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1"/>
  </p:notesMasterIdLst>
  <p:handoutMasterIdLst>
    <p:handoutMasterId r:id="rId32"/>
  </p:handoutMasterIdLst>
  <p:sldIdLst>
    <p:sldId id="257" r:id="rId5"/>
    <p:sldId id="268" r:id="rId6"/>
    <p:sldId id="331" r:id="rId7"/>
    <p:sldId id="315" r:id="rId8"/>
    <p:sldId id="316" r:id="rId9"/>
    <p:sldId id="333" r:id="rId10"/>
    <p:sldId id="332" r:id="rId11"/>
    <p:sldId id="334" r:id="rId12"/>
    <p:sldId id="335" r:id="rId13"/>
    <p:sldId id="336" r:id="rId14"/>
    <p:sldId id="337" r:id="rId15"/>
    <p:sldId id="338" r:id="rId16"/>
    <p:sldId id="339" r:id="rId17"/>
    <p:sldId id="340" r:id="rId18"/>
    <p:sldId id="341" r:id="rId19"/>
    <p:sldId id="342" r:id="rId20"/>
    <p:sldId id="344" r:id="rId21"/>
    <p:sldId id="343" r:id="rId22"/>
    <p:sldId id="345" r:id="rId23"/>
    <p:sldId id="346" r:id="rId24"/>
    <p:sldId id="347" r:id="rId25"/>
    <p:sldId id="348" r:id="rId26"/>
    <p:sldId id="349" r:id="rId27"/>
    <p:sldId id="350" r:id="rId28"/>
    <p:sldId id="351" r:id="rId29"/>
    <p:sldId id="302" r:id="rId30"/>
  </p:sldIdLst>
  <p:sldSz cx="12188825" cy="6858000"/>
  <p:notesSz cx="6858000" cy="9144000"/>
  <p:defaultTextStyle>
    <a:defPPr rtl="0">
      <a:defRPr lang="es-E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65741A"/>
    <a:srgbClr val="5F6F0F"/>
    <a:srgbClr val="394404"/>
    <a:srgbClr val="C45900"/>
    <a:srgbClr val="718412"/>
    <a:srgbClr val="70811D"/>
    <a:srgbClr val="7B8D1F"/>
    <a:srgbClr val="839721"/>
    <a:srgbClr val="95A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96395" autoAdjust="0"/>
  </p:normalViewPr>
  <p:slideViewPr>
    <p:cSldViewPr>
      <p:cViewPr varScale="1">
        <p:scale>
          <a:sx n="85" d="100"/>
          <a:sy n="85" d="100"/>
        </p:scale>
        <p:origin x="610" y="53"/>
      </p:cViewPr>
      <p:guideLst>
        <p:guide orient="horz" pos="2160"/>
        <p:guide pos="3839"/>
      </p:guideLst>
    </p:cSldViewPr>
  </p:slideViewPr>
  <p:notesTextViewPr>
    <p:cViewPr>
      <p:scale>
        <a:sx n="1" d="1"/>
        <a:sy n="1" d="1"/>
      </p:scale>
      <p:origin x="0" y="0"/>
    </p:cViewPr>
  </p:notesTextViewPr>
  <p:notesViewPr>
    <p:cSldViewPr showGuides="1">
      <p:cViewPr varScale="1">
        <p:scale>
          <a:sx n="88" d="100"/>
          <a:sy n="88" d="100"/>
        </p:scale>
        <p:origin x="2478" y="6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C8F1D84B-F747-4821-8617-FBD61E8F4308}" type="datetime1">
              <a:rPr lang="es-ES" smtClean="0"/>
              <a:t>27/04/2026</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es-ES" dirty="0"/>
          </a:p>
        </p:txBody>
      </p:sp>
      <p:sp>
        <p:nvSpPr>
          <p:cNvPr id="5" name="Marcador de posición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79429053-DC2A-4342-ADD4-2FD729D91E2C}" type="slidenum">
              <a:rPr lang="es-ES" smtClean="0"/>
              <a:pPr algn="r" rtl="0"/>
              <a:t>‹Nº›</a:t>
            </a:fld>
            <a:endParaRPr lang="es-ES"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DA87C823-BB9F-45DA-99AB-416A32E1B948}" type="datetime1">
              <a:rPr lang="es-ES" noProof="0" smtClean="0"/>
              <a:pPr/>
              <a:t>27/04/2026</a:t>
            </a:fld>
            <a:endParaRPr lang="es-ES" noProof="0" dirty="0"/>
          </a:p>
        </p:txBody>
      </p:sp>
      <p:sp>
        <p:nvSpPr>
          <p:cNvPr id="4" name="Marcador de posición de imagen d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Haga clic para modificar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lvl1pPr>
          </a:lstStyle>
          <a:p>
            <a:fld id="{3EBA5BD7-F043-4D1B-AA17-CD412FC534DE}" type="slidenum">
              <a:rPr lang="es-ES" noProof="0" smtClean="0"/>
              <a:pPr/>
              <a:t>‹Nº›</a:t>
            </a:fld>
            <a:endParaRPr lang="es-ES" noProof="0"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a:t>
            </a:fld>
            <a:endParaRPr lang="es-ES" dirty="0"/>
          </a:p>
        </p:txBody>
      </p:sp>
    </p:spTree>
    <p:extLst>
      <p:ext uri="{BB962C8B-B14F-4D97-AF65-F5344CB8AC3E}">
        <p14:creationId xmlns:p14="http://schemas.microsoft.com/office/powerpoint/2010/main" val="3688672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a:t>
            </a:fld>
            <a:endParaRPr lang="es-ES" dirty="0"/>
          </a:p>
        </p:txBody>
      </p:sp>
    </p:spTree>
    <p:extLst>
      <p:ext uri="{BB962C8B-B14F-4D97-AF65-F5344CB8AC3E}">
        <p14:creationId xmlns:p14="http://schemas.microsoft.com/office/powerpoint/2010/main" val="307451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3</a:t>
            </a:fld>
            <a:endParaRPr lang="es-ES" dirty="0"/>
          </a:p>
        </p:txBody>
      </p:sp>
    </p:spTree>
    <p:extLst>
      <p:ext uri="{BB962C8B-B14F-4D97-AF65-F5344CB8AC3E}">
        <p14:creationId xmlns:p14="http://schemas.microsoft.com/office/powerpoint/2010/main" val="134717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4</a:t>
            </a:fld>
            <a:endParaRPr lang="es-ES" dirty="0"/>
          </a:p>
        </p:txBody>
      </p:sp>
    </p:spTree>
    <p:extLst>
      <p:ext uri="{BB962C8B-B14F-4D97-AF65-F5344CB8AC3E}">
        <p14:creationId xmlns:p14="http://schemas.microsoft.com/office/powerpoint/2010/main" val="2659684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5</a:t>
            </a:fld>
            <a:endParaRPr lang="es-ES" dirty="0"/>
          </a:p>
        </p:txBody>
      </p:sp>
    </p:spTree>
    <p:extLst>
      <p:ext uri="{BB962C8B-B14F-4D97-AF65-F5344CB8AC3E}">
        <p14:creationId xmlns:p14="http://schemas.microsoft.com/office/powerpoint/2010/main" val="3401208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6</a:t>
            </a:fld>
            <a:endParaRPr lang="es-ES" dirty="0"/>
          </a:p>
        </p:txBody>
      </p:sp>
    </p:spTree>
    <p:extLst>
      <p:ext uri="{BB962C8B-B14F-4D97-AF65-F5344CB8AC3E}">
        <p14:creationId xmlns:p14="http://schemas.microsoft.com/office/powerpoint/2010/main" val="260741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7</a:t>
            </a:fld>
            <a:endParaRPr lang="es-ES" dirty="0"/>
          </a:p>
        </p:txBody>
      </p:sp>
    </p:spTree>
    <p:extLst>
      <p:ext uri="{BB962C8B-B14F-4D97-AF65-F5344CB8AC3E}">
        <p14:creationId xmlns:p14="http://schemas.microsoft.com/office/powerpoint/2010/main" val="2111345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8</a:t>
            </a:fld>
            <a:endParaRPr lang="es-ES" dirty="0"/>
          </a:p>
        </p:txBody>
      </p:sp>
    </p:spTree>
    <p:extLst>
      <p:ext uri="{BB962C8B-B14F-4D97-AF65-F5344CB8AC3E}">
        <p14:creationId xmlns:p14="http://schemas.microsoft.com/office/powerpoint/2010/main" val="1044687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9</a:t>
            </a:fld>
            <a:endParaRPr lang="es-ES" dirty="0"/>
          </a:p>
        </p:txBody>
      </p:sp>
    </p:spTree>
    <p:extLst>
      <p:ext uri="{BB962C8B-B14F-4D97-AF65-F5344CB8AC3E}">
        <p14:creationId xmlns:p14="http://schemas.microsoft.com/office/powerpoint/2010/main" val="3026273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10</a:t>
            </a:fld>
            <a:endParaRPr lang="es-ES" dirty="0"/>
          </a:p>
        </p:txBody>
      </p:sp>
    </p:spTree>
    <p:extLst>
      <p:ext uri="{BB962C8B-B14F-4D97-AF65-F5344CB8AC3E}">
        <p14:creationId xmlns:p14="http://schemas.microsoft.com/office/powerpoint/2010/main" val="2030112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11</a:t>
            </a:fld>
            <a:endParaRPr lang="es-ES" dirty="0"/>
          </a:p>
        </p:txBody>
      </p:sp>
    </p:spTree>
    <p:extLst>
      <p:ext uri="{BB962C8B-B14F-4D97-AF65-F5344CB8AC3E}">
        <p14:creationId xmlns:p14="http://schemas.microsoft.com/office/powerpoint/2010/main" val="1836462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12</a:t>
            </a:fld>
            <a:endParaRPr lang="es-ES" dirty="0"/>
          </a:p>
        </p:txBody>
      </p:sp>
    </p:spTree>
    <p:extLst>
      <p:ext uri="{BB962C8B-B14F-4D97-AF65-F5344CB8AC3E}">
        <p14:creationId xmlns:p14="http://schemas.microsoft.com/office/powerpoint/2010/main" val="827971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13</a:t>
            </a:fld>
            <a:endParaRPr lang="es-ES" dirty="0"/>
          </a:p>
        </p:txBody>
      </p:sp>
    </p:spTree>
    <p:extLst>
      <p:ext uri="{BB962C8B-B14F-4D97-AF65-F5344CB8AC3E}">
        <p14:creationId xmlns:p14="http://schemas.microsoft.com/office/powerpoint/2010/main" val="524988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14</a:t>
            </a:fld>
            <a:endParaRPr lang="es-ES" dirty="0"/>
          </a:p>
        </p:txBody>
      </p:sp>
    </p:spTree>
    <p:extLst>
      <p:ext uri="{BB962C8B-B14F-4D97-AF65-F5344CB8AC3E}">
        <p14:creationId xmlns:p14="http://schemas.microsoft.com/office/powerpoint/2010/main" val="2838309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15</a:t>
            </a:fld>
            <a:endParaRPr lang="es-ES" dirty="0"/>
          </a:p>
        </p:txBody>
      </p:sp>
    </p:spTree>
    <p:extLst>
      <p:ext uri="{BB962C8B-B14F-4D97-AF65-F5344CB8AC3E}">
        <p14:creationId xmlns:p14="http://schemas.microsoft.com/office/powerpoint/2010/main" val="2674974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16</a:t>
            </a:fld>
            <a:endParaRPr lang="es-ES" dirty="0"/>
          </a:p>
        </p:txBody>
      </p:sp>
    </p:spTree>
    <p:extLst>
      <p:ext uri="{BB962C8B-B14F-4D97-AF65-F5344CB8AC3E}">
        <p14:creationId xmlns:p14="http://schemas.microsoft.com/office/powerpoint/2010/main" val="753990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17</a:t>
            </a:fld>
            <a:endParaRPr lang="es-ES" dirty="0"/>
          </a:p>
        </p:txBody>
      </p:sp>
    </p:spTree>
    <p:extLst>
      <p:ext uri="{BB962C8B-B14F-4D97-AF65-F5344CB8AC3E}">
        <p14:creationId xmlns:p14="http://schemas.microsoft.com/office/powerpoint/2010/main" val="2519853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18</a:t>
            </a:fld>
            <a:endParaRPr lang="es-ES" dirty="0"/>
          </a:p>
        </p:txBody>
      </p:sp>
    </p:spTree>
    <p:extLst>
      <p:ext uri="{BB962C8B-B14F-4D97-AF65-F5344CB8AC3E}">
        <p14:creationId xmlns:p14="http://schemas.microsoft.com/office/powerpoint/2010/main" val="90146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19</a:t>
            </a:fld>
            <a:endParaRPr lang="es-ES" dirty="0"/>
          </a:p>
        </p:txBody>
      </p:sp>
    </p:spTree>
    <p:extLst>
      <p:ext uri="{BB962C8B-B14F-4D97-AF65-F5344CB8AC3E}">
        <p14:creationId xmlns:p14="http://schemas.microsoft.com/office/powerpoint/2010/main" val="1978180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20</a:t>
            </a:fld>
            <a:endParaRPr lang="es-ES" dirty="0"/>
          </a:p>
        </p:txBody>
      </p:sp>
    </p:spTree>
    <p:extLst>
      <p:ext uri="{BB962C8B-B14F-4D97-AF65-F5344CB8AC3E}">
        <p14:creationId xmlns:p14="http://schemas.microsoft.com/office/powerpoint/2010/main" val="133379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21</a:t>
            </a:fld>
            <a:endParaRPr lang="es-ES" dirty="0"/>
          </a:p>
        </p:txBody>
      </p:sp>
    </p:spTree>
    <p:extLst>
      <p:ext uri="{BB962C8B-B14F-4D97-AF65-F5344CB8AC3E}">
        <p14:creationId xmlns:p14="http://schemas.microsoft.com/office/powerpoint/2010/main" val="331637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22</a:t>
            </a:fld>
            <a:endParaRPr lang="es-ES" dirty="0"/>
          </a:p>
        </p:txBody>
      </p:sp>
    </p:spTree>
    <p:extLst>
      <p:ext uri="{BB962C8B-B14F-4D97-AF65-F5344CB8AC3E}">
        <p14:creationId xmlns:p14="http://schemas.microsoft.com/office/powerpoint/2010/main" val="16541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23</a:t>
            </a:fld>
            <a:endParaRPr lang="es-ES" dirty="0"/>
          </a:p>
        </p:txBody>
      </p:sp>
    </p:spTree>
    <p:extLst>
      <p:ext uri="{BB962C8B-B14F-4D97-AF65-F5344CB8AC3E}">
        <p14:creationId xmlns:p14="http://schemas.microsoft.com/office/powerpoint/2010/main" val="3349118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24</a:t>
            </a:fld>
            <a:endParaRPr lang="es-ES" dirty="0"/>
          </a:p>
        </p:txBody>
      </p:sp>
    </p:spTree>
    <p:extLst>
      <p:ext uri="{BB962C8B-B14F-4D97-AF65-F5344CB8AC3E}">
        <p14:creationId xmlns:p14="http://schemas.microsoft.com/office/powerpoint/2010/main" val="1139994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3EBA5BD7-F043-4D1B-AA17-CD412FC534DE}" type="slidenum">
              <a:rPr lang="es-ES" smtClean="0"/>
              <a:pPr/>
              <a:t>25</a:t>
            </a:fld>
            <a:endParaRPr lang="es-ES" dirty="0"/>
          </a:p>
        </p:txBody>
      </p:sp>
    </p:spTree>
    <p:extLst>
      <p:ext uri="{BB962C8B-B14F-4D97-AF65-F5344CB8AC3E}">
        <p14:creationId xmlns:p14="http://schemas.microsoft.com/office/powerpoint/2010/main" val="1605585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3EBA5BD7-F043-4D1B-AA17-CD412FC534DE}" type="slidenum">
              <a:rPr lang="es-ES" noProof="0" smtClean="0"/>
              <a:pPr/>
              <a:t>26</a:t>
            </a:fld>
            <a:endParaRPr lang="es-ES" noProof="0" dirty="0"/>
          </a:p>
        </p:txBody>
      </p:sp>
    </p:spTree>
    <p:extLst>
      <p:ext uri="{BB962C8B-B14F-4D97-AF65-F5344CB8AC3E}">
        <p14:creationId xmlns:p14="http://schemas.microsoft.com/office/powerpoint/2010/main" val="3964497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3603" y="1122363"/>
            <a:ext cx="9141619" cy="2387600"/>
          </a:xfrm>
        </p:spPr>
        <p:txBody>
          <a:bodyPr anchor="b"/>
          <a:lstStyle>
            <a:lvl1pPr algn="ctr">
              <a:defRPr sz="5998"/>
            </a:lvl1pPr>
          </a:lstStyle>
          <a:p>
            <a:r>
              <a:rPr lang="es-ES"/>
              <a:t>Haga clic para modificar el estilo de título del patrón</a:t>
            </a:r>
            <a:endParaRPr lang="es-PE"/>
          </a:p>
        </p:txBody>
      </p:sp>
      <p:sp>
        <p:nvSpPr>
          <p:cNvPr id="3" name="Subtítulo 2"/>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s-ES"/>
              <a:t>Haga clic para modificar el estilo de subtítulo del patrón</a:t>
            </a:r>
            <a:endParaRPr lang="es-PE"/>
          </a:p>
        </p:txBody>
      </p:sp>
      <p:sp>
        <p:nvSpPr>
          <p:cNvPr id="4" name="Marcador de fecha 3"/>
          <p:cNvSpPr>
            <a:spLocks noGrp="1"/>
          </p:cNvSpPr>
          <p:nvPr>
            <p:ph type="dt" sz="half" idx="10"/>
          </p:nvPr>
        </p:nvSpPr>
        <p:spPr/>
        <p:txBody>
          <a:bodyPr/>
          <a:lstStyle/>
          <a:p>
            <a:fld id="{A042E67D-14C0-4ED9-A218-9C14494A6A84}" type="datetime1">
              <a:rPr lang="es-ES" noProof="0" smtClean="0"/>
              <a:pPr/>
              <a:t>27/04/2026</a:t>
            </a:fld>
            <a:endParaRPr lang="es-ES" noProof="0" dirty="0"/>
          </a:p>
        </p:txBody>
      </p:sp>
      <p:sp>
        <p:nvSpPr>
          <p:cNvPr id="5" name="Marcador de pie de página 4"/>
          <p:cNvSpPr>
            <a:spLocks noGrp="1"/>
          </p:cNvSpPr>
          <p:nvPr>
            <p:ph type="ftr" sz="quarter" idx="11"/>
          </p:nvPr>
        </p:nvSpPr>
        <p:spPr/>
        <p:txBody>
          <a:bodyPr/>
          <a:lstStyle/>
          <a:p>
            <a:pPr rtl="0"/>
            <a:endParaRPr lang="es-ES" noProof="0" dirty="0"/>
          </a:p>
        </p:txBody>
      </p:sp>
      <p:sp>
        <p:nvSpPr>
          <p:cNvPr id="6" name="Marcador de número de diapositiva 5"/>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414063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35C83AD5-F5AF-4BDC-901E-85A05CCFFAAA}" type="datetime1">
              <a:rPr lang="es-ES" noProof="0" smtClean="0"/>
              <a:pPr/>
              <a:t>27/04/2026</a:t>
            </a:fld>
            <a:endParaRPr lang="es-ES" noProof="0" dirty="0"/>
          </a:p>
        </p:txBody>
      </p:sp>
      <p:sp>
        <p:nvSpPr>
          <p:cNvPr id="5" name="Marcador de pie de página 4"/>
          <p:cNvSpPr>
            <a:spLocks noGrp="1"/>
          </p:cNvSpPr>
          <p:nvPr>
            <p:ph type="ftr" sz="quarter" idx="11"/>
          </p:nvPr>
        </p:nvSpPr>
        <p:spPr/>
        <p:txBody>
          <a:bodyPr/>
          <a:lstStyle/>
          <a:p>
            <a:pPr rtl="0"/>
            <a:endParaRPr lang="es-ES" noProof="0" dirty="0"/>
          </a:p>
        </p:txBody>
      </p:sp>
      <p:sp>
        <p:nvSpPr>
          <p:cNvPr id="6" name="Marcador de número de diapositiva 5"/>
          <p:cNvSpPr>
            <a:spLocks noGrp="1"/>
          </p:cNvSpPr>
          <p:nvPr>
            <p:ph type="sldNum" sz="quarter" idx="12"/>
          </p:nvPr>
        </p:nvSpPr>
        <p:spPr/>
        <p:txBody>
          <a:bodyPr/>
          <a:lstStyle/>
          <a:p>
            <a:fld id="{C014DD1E-5D91-48A3-AD6D-45FBA980D106}" type="slidenum">
              <a:rPr lang="es-ES" smtClean="0"/>
              <a:pPr/>
              <a:t>‹Nº›</a:t>
            </a:fld>
            <a:endParaRPr lang="es-ES" dirty="0"/>
          </a:p>
        </p:txBody>
      </p:sp>
    </p:spTree>
    <p:extLst>
      <p:ext uri="{BB962C8B-B14F-4D97-AF65-F5344CB8AC3E}">
        <p14:creationId xmlns:p14="http://schemas.microsoft.com/office/powerpoint/2010/main" val="61343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633" y="1709739"/>
            <a:ext cx="10512862" cy="2852737"/>
          </a:xfrm>
        </p:spPr>
        <p:txBody>
          <a:bodyPr anchor="b"/>
          <a:lstStyle>
            <a:lvl1pPr>
              <a:defRPr sz="5998"/>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AA1D35CA-82F5-4AD4-B9EC-66E805B73542}" type="datetime1">
              <a:rPr lang="es-ES" noProof="0" smtClean="0"/>
              <a:pPr/>
              <a:t>27/04/2026</a:t>
            </a:fld>
            <a:endParaRPr lang="es-ES" noProof="0" dirty="0"/>
          </a:p>
        </p:txBody>
      </p:sp>
      <p:sp>
        <p:nvSpPr>
          <p:cNvPr id="5" name="Marcador de pie de página 4"/>
          <p:cNvSpPr>
            <a:spLocks noGrp="1"/>
          </p:cNvSpPr>
          <p:nvPr>
            <p:ph type="ftr" sz="quarter" idx="11"/>
          </p:nvPr>
        </p:nvSpPr>
        <p:spPr/>
        <p:txBody>
          <a:bodyPr/>
          <a:lstStyle/>
          <a:p>
            <a:pPr rtl="0"/>
            <a:endParaRPr lang="es-ES" noProof="0" dirty="0"/>
          </a:p>
        </p:txBody>
      </p:sp>
      <p:sp>
        <p:nvSpPr>
          <p:cNvPr id="6" name="Marcador de número de diapositiva 5"/>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1692179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7982" y="1825625"/>
            <a:ext cx="5180251"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0592" y="1825625"/>
            <a:ext cx="5180251"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834CCE92-710B-4678-B1B1-EFCAA5CDF075}" type="datetime1">
              <a:rPr lang="es-ES" noProof="0" smtClean="0"/>
              <a:pPr/>
              <a:t>27/04/2026</a:t>
            </a:fld>
            <a:endParaRPr lang="es-ES" noProof="0" dirty="0"/>
          </a:p>
        </p:txBody>
      </p:sp>
      <p:sp>
        <p:nvSpPr>
          <p:cNvPr id="6" name="Marcador de pie de página 5"/>
          <p:cNvSpPr>
            <a:spLocks noGrp="1"/>
          </p:cNvSpPr>
          <p:nvPr>
            <p:ph type="ftr" sz="quarter" idx="11"/>
          </p:nvPr>
        </p:nvSpPr>
        <p:spPr/>
        <p:txBody>
          <a:bodyPr/>
          <a:lstStyle/>
          <a:p>
            <a:pPr rtl="0"/>
            <a:endParaRPr lang="es-ES" noProof="0" dirty="0"/>
          </a:p>
        </p:txBody>
      </p:sp>
      <p:sp>
        <p:nvSpPr>
          <p:cNvPr id="7" name="Marcador de número de diapositiva 6"/>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285290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569" y="365126"/>
            <a:ext cx="10512862"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570" y="2505075"/>
            <a:ext cx="5156444"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0593" y="2505075"/>
            <a:ext cx="518183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83FB0F2C-25D9-4D7E-B43A-29A2E16C960D}" type="datetime1">
              <a:rPr lang="es-ES" noProof="0" smtClean="0"/>
              <a:pPr/>
              <a:t>27/04/2026</a:t>
            </a:fld>
            <a:endParaRPr lang="es-ES" noProof="0" dirty="0"/>
          </a:p>
        </p:txBody>
      </p:sp>
      <p:sp>
        <p:nvSpPr>
          <p:cNvPr id="8" name="Marcador de pie de página 7"/>
          <p:cNvSpPr>
            <a:spLocks noGrp="1"/>
          </p:cNvSpPr>
          <p:nvPr>
            <p:ph type="ftr" sz="quarter" idx="11"/>
          </p:nvPr>
        </p:nvSpPr>
        <p:spPr/>
        <p:txBody>
          <a:bodyPr/>
          <a:lstStyle/>
          <a:p>
            <a:pPr rtl="0"/>
            <a:endParaRPr lang="es-ES" noProof="0" dirty="0"/>
          </a:p>
        </p:txBody>
      </p:sp>
      <p:sp>
        <p:nvSpPr>
          <p:cNvPr id="9" name="Marcador de número de diapositiva 8"/>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295957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FD34687D-B11B-47A5-95F6-B79DA932A6DF}" type="datetime1">
              <a:rPr lang="es-ES" noProof="0" smtClean="0"/>
              <a:pPr/>
              <a:t>27/04/2026</a:t>
            </a:fld>
            <a:endParaRPr lang="es-ES" noProof="0" dirty="0"/>
          </a:p>
        </p:txBody>
      </p:sp>
      <p:sp>
        <p:nvSpPr>
          <p:cNvPr id="4" name="Marcador de pie de página 3"/>
          <p:cNvSpPr>
            <a:spLocks noGrp="1"/>
          </p:cNvSpPr>
          <p:nvPr>
            <p:ph type="ftr" sz="quarter" idx="11"/>
          </p:nvPr>
        </p:nvSpPr>
        <p:spPr/>
        <p:txBody>
          <a:bodyPr/>
          <a:lstStyle/>
          <a:p>
            <a:pPr rtl="0"/>
            <a:endParaRPr lang="es-ES" noProof="0" dirty="0"/>
          </a:p>
        </p:txBody>
      </p:sp>
      <p:sp>
        <p:nvSpPr>
          <p:cNvPr id="5" name="Marcador de número de diapositiva 4"/>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851634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3C656DE-1E46-4450-9484-A739B4FADFBC}" type="datetime1">
              <a:rPr lang="es-ES" noProof="0" smtClean="0"/>
              <a:pPr/>
              <a:t>27/04/2026</a:t>
            </a:fld>
            <a:endParaRPr lang="es-ES" noProof="0" dirty="0"/>
          </a:p>
        </p:txBody>
      </p:sp>
      <p:sp>
        <p:nvSpPr>
          <p:cNvPr id="3" name="Marcador de pie de página 2"/>
          <p:cNvSpPr>
            <a:spLocks noGrp="1"/>
          </p:cNvSpPr>
          <p:nvPr>
            <p:ph type="ftr" sz="quarter" idx="11"/>
          </p:nvPr>
        </p:nvSpPr>
        <p:spPr/>
        <p:txBody>
          <a:bodyPr/>
          <a:lstStyle/>
          <a:p>
            <a:pPr rtl="0"/>
            <a:endParaRPr lang="es-ES" noProof="0" dirty="0"/>
          </a:p>
        </p:txBody>
      </p:sp>
      <p:sp>
        <p:nvSpPr>
          <p:cNvPr id="4" name="Marcador de número de diapositiva 3"/>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Tree>
    <p:extLst>
      <p:ext uri="{BB962C8B-B14F-4D97-AF65-F5344CB8AC3E}">
        <p14:creationId xmlns:p14="http://schemas.microsoft.com/office/powerpoint/2010/main" val="291730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570" y="457200"/>
            <a:ext cx="3931213" cy="1600200"/>
          </a:xfrm>
        </p:spPr>
        <p:txBody>
          <a:bodyPr anchor="b"/>
          <a:lstStyle>
            <a:lvl1pPr>
              <a:defRPr sz="3199"/>
            </a:lvl1pPr>
          </a:lstStyle>
          <a:p>
            <a:r>
              <a:rPr lang="es-ES"/>
              <a:t>Haga clic para modificar el estilo de título del patrón</a:t>
            </a:r>
            <a:endParaRPr lang="es-PE"/>
          </a:p>
        </p:txBody>
      </p:sp>
      <p:sp>
        <p:nvSpPr>
          <p:cNvPr id="3" name="Marcador de contenido 2"/>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35C83AD5-F5AF-4BDC-901E-85A05CCFFAAA}" type="datetime1">
              <a:rPr lang="es-ES" noProof="0" smtClean="0"/>
              <a:pPr/>
              <a:t>27/04/2026</a:t>
            </a:fld>
            <a:endParaRPr lang="es-ES" noProof="0" dirty="0"/>
          </a:p>
        </p:txBody>
      </p:sp>
      <p:sp>
        <p:nvSpPr>
          <p:cNvPr id="6" name="Marcador de pie de página 5"/>
          <p:cNvSpPr>
            <a:spLocks noGrp="1"/>
          </p:cNvSpPr>
          <p:nvPr>
            <p:ph type="ftr" sz="quarter" idx="11"/>
          </p:nvPr>
        </p:nvSpPr>
        <p:spPr/>
        <p:txBody>
          <a:bodyPr/>
          <a:lstStyle/>
          <a:p>
            <a:pPr rtl="0"/>
            <a:endParaRPr lang="es-ES" noProof="0" dirty="0"/>
          </a:p>
        </p:txBody>
      </p:sp>
      <p:sp>
        <p:nvSpPr>
          <p:cNvPr id="7" name="Marcador de número de diapositiva 6"/>
          <p:cNvSpPr>
            <a:spLocks noGrp="1"/>
          </p:cNvSpPr>
          <p:nvPr>
            <p:ph type="sldNum" sz="quarter" idx="12"/>
          </p:nvPr>
        </p:nvSpPr>
        <p:spPr/>
        <p:txBody>
          <a:bodyPr/>
          <a:lstStyle/>
          <a:p>
            <a:fld id="{C014DD1E-5D91-48A3-AD6D-45FBA980D106}" type="slidenum">
              <a:rPr lang="es-ES" smtClean="0"/>
              <a:pPr/>
              <a:t>‹Nº›</a:t>
            </a:fld>
            <a:endParaRPr lang="es-ES" dirty="0"/>
          </a:p>
        </p:txBody>
      </p:sp>
    </p:spTree>
    <p:extLst>
      <p:ext uri="{BB962C8B-B14F-4D97-AF65-F5344CB8AC3E}">
        <p14:creationId xmlns:p14="http://schemas.microsoft.com/office/powerpoint/2010/main" val="3292469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570" y="457200"/>
            <a:ext cx="3931213" cy="1600200"/>
          </a:xfrm>
        </p:spPr>
        <p:txBody>
          <a:bodyPr anchor="b"/>
          <a:lstStyle>
            <a:lvl1pPr>
              <a:defRPr sz="3199"/>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1838" y="987426"/>
            <a:ext cx="6170593" cy="4873625"/>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es-PE"/>
          </a:p>
        </p:txBody>
      </p:sp>
      <p:sp>
        <p:nvSpPr>
          <p:cNvPr id="4" name="Marcador de texto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35C83AD5-F5AF-4BDC-901E-85A05CCFFAAA}" type="datetime1">
              <a:rPr lang="es-ES" noProof="0" smtClean="0"/>
              <a:pPr/>
              <a:t>27/04/2026</a:t>
            </a:fld>
            <a:endParaRPr lang="es-ES" noProof="0" dirty="0"/>
          </a:p>
        </p:txBody>
      </p:sp>
      <p:sp>
        <p:nvSpPr>
          <p:cNvPr id="6" name="Marcador de pie de página 5"/>
          <p:cNvSpPr>
            <a:spLocks noGrp="1"/>
          </p:cNvSpPr>
          <p:nvPr>
            <p:ph type="ftr" sz="quarter" idx="11"/>
          </p:nvPr>
        </p:nvSpPr>
        <p:spPr/>
        <p:txBody>
          <a:bodyPr/>
          <a:lstStyle/>
          <a:p>
            <a:pPr rtl="0"/>
            <a:endParaRPr lang="es-ES" noProof="0" dirty="0"/>
          </a:p>
        </p:txBody>
      </p:sp>
      <p:sp>
        <p:nvSpPr>
          <p:cNvPr id="7" name="Marcador de número de diapositiva 6"/>
          <p:cNvSpPr>
            <a:spLocks noGrp="1"/>
          </p:cNvSpPr>
          <p:nvPr>
            <p:ph type="sldNum" sz="quarter" idx="12"/>
          </p:nvPr>
        </p:nvSpPr>
        <p:spPr/>
        <p:txBody>
          <a:bodyPr/>
          <a:lstStyle/>
          <a:p>
            <a:fld id="{C014DD1E-5D91-48A3-AD6D-45FBA980D106}" type="slidenum">
              <a:rPr lang="es-ES" smtClean="0"/>
              <a:pPr/>
              <a:t>‹Nº›</a:t>
            </a:fld>
            <a:endParaRPr lang="es-ES" dirty="0"/>
          </a:p>
        </p:txBody>
      </p:sp>
    </p:spTree>
    <p:extLst>
      <p:ext uri="{BB962C8B-B14F-4D97-AF65-F5344CB8AC3E}">
        <p14:creationId xmlns:p14="http://schemas.microsoft.com/office/powerpoint/2010/main" val="40461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40A1DB83-C382-4684-8887-65A03EA4FFF0}" type="datetime1">
              <a:rPr lang="es-ES" noProof="0" smtClean="0"/>
              <a:pPr/>
              <a:t>27/04/2026</a:t>
            </a:fld>
            <a:endParaRPr lang="es-ES" noProof="0" dirty="0"/>
          </a:p>
        </p:txBody>
      </p:sp>
      <p:sp>
        <p:nvSpPr>
          <p:cNvPr id="5" name="Marcador de pie de página 4"/>
          <p:cNvSpPr>
            <a:spLocks noGrp="1"/>
          </p:cNvSpPr>
          <p:nvPr>
            <p:ph type="ftr" sz="quarter" idx="11"/>
          </p:nvPr>
        </p:nvSpPr>
        <p:spPr/>
        <p:txBody>
          <a:bodyPr/>
          <a:lstStyle/>
          <a:p>
            <a:pPr rtl="0"/>
            <a:endParaRPr lang="es-ES" noProof="0" dirty="0"/>
          </a:p>
        </p:txBody>
      </p:sp>
      <p:sp>
        <p:nvSpPr>
          <p:cNvPr id="6" name="Marcador de número de diapositiva 5"/>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
        <p:nvSpPr>
          <p:cNvPr id="8" name="Título 1"/>
          <p:cNvSpPr txBox="1">
            <a:spLocks/>
          </p:cNvSpPr>
          <p:nvPr userDrawn="1"/>
        </p:nvSpPr>
        <p:spPr>
          <a:xfrm>
            <a:off x="1375262" y="65112"/>
            <a:ext cx="9696254" cy="843607"/>
          </a:xfrm>
          <a:prstGeom prst="rect">
            <a:avLst/>
          </a:prstGeom>
        </p:spPr>
        <p:txBody>
          <a:bodyPr vert="horz" lIns="121899" tIns="60949" rIns="121899" bIns="60949" rtlCol="0" anchor="b">
            <a:noAutofit/>
          </a:bodyPr>
          <a:lstStyle>
            <a:lvl1pPr algn="l" defTabSz="1218987"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ES" sz="2400" dirty="0">
                <a:solidFill>
                  <a:schemeClr val="tx1"/>
                </a:solidFill>
              </a:rPr>
              <a:t>Universidad</a:t>
            </a:r>
            <a:r>
              <a:rPr lang="es-ES" sz="2400" baseline="0" dirty="0">
                <a:solidFill>
                  <a:schemeClr val="tx1"/>
                </a:solidFill>
              </a:rPr>
              <a:t> Nacional Amazónica de Madre de Dios</a:t>
            </a:r>
          </a:p>
          <a:p>
            <a:pPr algn="ctr"/>
            <a:r>
              <a:rPr lang="es-ES" sz="2400" baseline="0" dirty="0">
                <a:solidFill>
                  <a:schemeClr val="tx1"/>
                </a:solidFill>
              </a:rPr>
              <a:t>Facultad de Ingeniería-Escuela Profesional de Ingeniería de Sistemas</a:t>
            </a:r>
            <a:endParaRPr lang="es-ES" sz="2400" dirty="0">
              <a:solidFill>
                <a:schemeClr val="tx1"/>
              </a:solidFill>
            </a:endParaRPr>
          </a:p>
        </p:txBody>
      </p:sp>
    </p:spTree>
    <p:extLst>
      <p:ext uri="{BB962C8B-B14F-4D97-AF65-F5344CB8AC3E}">
        <p14:creationId xmlns:p14="http://schemas.microsoft.com/office/powerpoint/2010/main" val="1964321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2628" y="365125"/>
            <a:ext cx="2628215"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7982" y="365125"/>
            <a:ext cx="7732286"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C60E81D3-9B82-44CA-B1F9-FCEFDC87935B}" type="datetime1">
              <a:rPr lang="es-ES" noProof="0" smtClean="0"/>
              <a:pPr/>
              <a:t>27/04/2026</a:t>
            </a:fld>
            <a:endParaRPr lang="es-ES" noProof="0" dirty="0"/>
          </a:p>
        </p:txBody>
      </p:sp>
      <p:sp>
        <p:nvSpPr>
          <p:cNvPr id="5" name="Marcador de pie de página 4"/>
          <p:cNvSpPr>
            <a:spLocks noGrp="1"/>
          </p:cNvSpPr>
          <p:nvPr>
            <p:ph type="ftr" sz="quarter" idx="11"/>
          </p:nvPr>
        </p:nvSpPr>
        <p:spPr/>
        <p:txBody>
          <a:bodyPr/>
          <a:lstStyle/>
          <a:p>
            <a:pPr rtl="0"/>
            <a:endParaRPr lang="es-ES" noProof="0" dirty="0"/>
          </a:p>
        </p:txBody>
      </p:sp>
      <p:sp>
        <p:nvSpPr>
          <p:cNvPr id="6" name="Marcador de número de diapositiva 5"/>
          <p:cNvSpPr>
            <a:spLocks noGrp="1"/>
          </p:cNvSpPr>
          <p:nvPr>
            <p:ph type="sldNum" sz="quarter" idx="12"/>
          </p:nvPr>
        </p:nvSpPr>
        <p:spPr/>
        <p:txBody>
          <a:bodyPr/>
          <a:lstStyle/>
          <a:p>
            <a:pPr rtl="0"/>
            <a:fld id="{C014DD1E-5D91-48A3-AD6D-45FBA980D106}" type="slidenum">
              <a:rPr lang="es-ES" noProof="0" smtClean="0"/>
              <a:t>‹Nº›</a:t>
            </a:fld>
            <a:endParaRPr lang="es-ES" noProof="0" dirty="0"/>
          </a:p>
        </p:txBody>
      </p:sp>
      <p:sp>
        <p:nvSpPr>
          <p:cNvPr id="8" name="Título 1"/>
          <p:cNvSpPr txBox="1">
            <a:spLocks/>
          </p:cNvSpPr>
          <p:nvPr userDrawn="1"/>
        </p:nvSpPr>
        <p:spPr>
          <a:xfrm>
            <a:off x="1375262" y="65112"/>
            <a:ext cx="9696254" cy="843607"/>
          </a:xfrm>
          <a:prstGeom prst="rect">
            <a:avLst/>
          </a:prstGeom>
        </p:spPr>
        <p:txBody>
          <a:bodyPr vert="horz" lIns="121899" tIns="60949" rIns="121899" bIns="60949" rtlCol="0" anchor="b">
            <a:noAutofit/>
          </a:bodyPr>
          <a:lstStyle>
            <a:lvl1pPr algn="l" defTabSz="1218987"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ES" sz="2400" dirty="0">
                <a:solidFill>
                  <a:schemeClr val="tx1"/>
                </a:solidFill>
              </a:rPr>
              <a:t>Universidad</a:t>
            </a:r>
            <a:r>
              <a:rPr lang="es-ES" sz="2400" baseline="0" dirty="0">
                <a:solidFill>
                  <a:schemeClr val="tx1"/>
                </a:solidFill>
              </a:rPr>
              <a:t> Nacional Amazónica de Madre de Dios</a:t>
            </a:r>
          </a:p>
          <a:p>
            <a:pPr algn="ctr"/>
            <a:r>
              <a:rPr lang="es-ES" sz="2400" baseline="0" dirty="0">
                <a:solidFill>
                  <a:schemeClr val="tx1"/>
                </a:solidFill>
              </a:rPr>
              <a:t>Facultad de Ingeniería-Escuela Profesional de Ingeniería de Sistemas</a:t>
            </a:r>
            <a:endParaRPr lang="es-ES" sz="2400" dirty="0">
              <a:solidFill>
                <a:schemeClr val="tx1"/>
              </a:solidFill>
            </a:endParaRPr>
          </a:p>
        </p:txBody>
      </p:sp>
    </p:spTree>
    <p:extLst>
      <p:ext uri="{BB962C8B-B14F-4D97-AF65-F5344CB8AC3E}">
        <p14:creationId xmlns:p14="http://schemas.microsoft.com/office/powerpoint/2010/main" val="304178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7982" y="1825625"/>
            <a:ext cx="10512862" cy="4123655"/>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83AD5-F5AF-4BDC-901E-85A05CCFFAAA}" type="datetime1">
              <a:rPr lang="es-ES" noProof="0" smtClean="0"/>
              <a:pPr/>
              <a:t>27/04/2026</a:t>
            </a:fld>
            <a:endParaRPr lang="es-ES" noProof="0" dirty="0"/>
          </a:p>
        </p:txBody>
      </p:sp>
      <p:sp>
        <p:nvSpPr>
          <p:cNvPr id="5" name="Marcador de pie de página 4"/>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número de diapositiva 5"/>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4DD1E-5D91-48A3-AD6D-45FBA980D106}" type="slidenum">
              <a:rPr lang="es-ES" smtClean="0"/>
              <a:pPr/>
              <a:t>‹Nº›</a:t>
            </a:fld>
            <a:endParaRPr lang="es-ES" dirty="0"/>
          </a:p>
        </p:txBody>
      </p:sp>
      <p:sp>
        <p:nvSpPr>
          <p:cNvPr id="7" name="Rectángulo 6"/>
          <p:cNvSpPr/>
          <p:nvPr userDrawn="1"/>
        </p:nvSpPr>
        <p:spPr>
          <a:xfrm>
            <a:off x="0" y="6084217"/>
            <a:ext cx="12188825" cy="77378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CuadroTexto 7"/>
          <p:cNvSpPr txBox="1"/>
          <p:nvPr userDrawn="1"/>
        </p:nvSpPr>
        <p:spPr>
          <a:xfrm>
            <a:off x="117748" y="6347998"/>
            <a:ext cx="2892138" cy="246221"/>
          </a:xfrm>
          <a:prstGeom prst="rect">
            <a:avLst/>
          </a:prstGeom>
          <a:noFill/>
        </p:spPr>
        <p:txBody>
          <a:bodyPr wrap="none" rtlCol="0">
            <a:spAutoFit/>
          </a:bodyPr>
          <a:lstStyle/>
          <a:p>
            <a:r>
              <a:rPr lang="es-PE" sz="1000" b="1" dirty="0">
                <a:solidFill>
                  <a:schemeClr val="bg1"/>
                </a:solidFill>
              </a:rPr>
              <a:t>Universidad Nacional Amazónica de Madre de Dios</a:t>
            </a:r>
          </a:p>
        </p:txBody>
      </p:sp>
      <p:sp>
        <p:nvSpPr>
          <p:cNvPr id="9" name="CuadroTexto 8"/>
          <p:cNvSpPr txBox="1"/>
          <p:nvPr userDrawn="1"/>
        </p:nvSpPr>
        <p:spPr>
          <a:xfrm>
            <a:off x="10829770" y="6347997"/>
            <a:ext cx="1075936" cy="246221"/>
          </a:xfrm>
          <a:prstGeom prst="rect">
            <a:avLst/>
          </a:prstGeom>
          <a:noFill/>
        </p:spPr>
        <p:txBody>
          <a:bodyPr wrap="none" rtlCol="0">
            <a:spAutoFit/>
          </a:bodyPr>
          <a:lstStyle/>
          <a:p>
            <a:r>
              <a:rPr lang="es-PE" sz="1000" b="1" dirty="0">
                <a:solidFill>
                  <a:schemeClr val="bg1"/>
                </a:solidFill>
              </a:rPr>
              <a:t>Desarrollo Web I</a:t>
            </a:r>
          </a:p>
        </p:txBody>
      </p:sp>
    </p:spTree>
    <p:extLst>
      <p:ext uri="{BB962C8B-B14F-4D97-AF65-F5344CB8AC3E}">
        <p14:creationId xmlns:p14="http://schemas.microsoft.com/office/powerpoint/2010/main" val="7916249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s-PE"/>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981844" y="2204864"/>
            <a:ext cx="9937104" cy="864752"/>
          </a:xfrm>
        </p:spPr>
        <p:txBody>
          <a:bodyPr rtlCol="0">
            <a:noAutofit/>
          </a:bodyPr>
          <a:lstStyle/>
          <a:p>
            <a:pPr rtl="0"/>
            <a:r>
              <a:rPr lang="es-ES" sz="3200" b="1" dirty="0">
                <a:solidFill>
                  <a:schemeClr val="accent5"/>
                </a:solidFill>
                <a:latin typeface="Antique Olive" panose="020B0603020204030204"/>
              </a:rPr>
              <a:t>DESARROLLO WEB I</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3FE6509A-379E-461F-9A11-04A5255FE0B1}"/>
              </a:ext>
            </a:extLst>
          </p:cNvPr>
          <p:cNvSpPr txBox="1"/>
          <p:nvPr/>
        </p:nvSpPr>
        <p:spPr>
          <a:xfrm>
            <a:off x="1674168" y="360136"/>
            <a:ext cx="8856984" cy="1477328"/>
          </a:xfrm>
          <a:prstGeom prst="rect">
            <a:avLst/>
          </a:prstGeom>
          <a:noFill/>
        </p:spPr>
        <p:txBody>
          <a:bodyPr wrap="square">
            <a:spAutoFit/>
          </a:bodyPr>
          <a:lstStyle/>
          <a:p>
            <a:pPr algn="just"/>
            <a:r>
              <a:rPr lang="es-MX" sz="1800" dirty="0">
                <a:latin typeface="Antique Olive"/>
              </a:rPr>
              <a:t>Caso: El "Bug" de 440 Millones de Dólares (</a:t>
            </a:r>
            <a:r>
              <a:rPr lang="es-MX" sz="1800" dirty="0" err="1">
                <a:latin typeface="Antique Olive"/>
              </a:rPr>
              <a:t>Knight</a:t>
            </a:r>
            <a:r>
              <a:rPr lang="es-MX" sz="1800" dirty="0">
                <a:latin typeface="Antique Olive"/>
              </a:rPr>
              <a:t> Capital </a:t>
            </a:r>
            <a:r>
              <a:rPr lang="es-MX" sz="1800" dirty="0" err="1">
                <a:latin typeface="Antique Olive"/>
              </a:rPr>
              <a:t>Group</a:t>
            </a:r>
            <a:r>
              <a:rPr lang="es-MX" sz="1800" dirty="0">
                <a:latin typeface="Antique Olive"/>
              </a:rPr>
              <a:t>)En 2012, una de las mayores operadoras de bolsa de EE. UU. perdió 440 millones de dólares en 45 minutos. ¿La razón? Al implementar software nuevo, olvidaron actualizar el código en uno de los ocho servidores. No tenían un control de versiones automatizado y robusto que asegurara que todos los nodos corrieran la misma "rama" de producción.</a:t>
            </a:r>
            <a:endParaRPr lang="es-PE" sz="1800" dirty="0">
              <a:latin typeface="Antique Olive"/>
            </a:endParaRPr>
          </a:p>
        </p:txBody>
      </p:sp>
      <p:sp>
        <p:nvSpPr>
          <p:cNvPr id="10" name="CuadroTexto 9">
            <a:extLst>
              <a:ext uri="{FF2B5EF4-FFF2-40B4-BE49-F238E27FC236}">
                <a16:creationId xmlns:a16="http://schemas.microsoft.com/office/drawing/2014/main" id="{58384CBA-7F97-44DE-A198-634C5D6C48B5}"/>
              </a:ext>
            </a:extLst>
          </p:cNvPr>
          <p:cNvSpPr txBox="1"/>
          <p:nvPr/>
        </p:nvSpPr>
        <p:spPr>
          <a:xfrm>
            <a:off x="1682416" y="2060848"/>
            <a:ext cx="8848736" cy="646331"/>
          </a:xfrm>
          <a:prstGeom prst="rect">
            <a:avLst/>
          </a:prstGeom>
          <a:noFill/>
        </p:spPr>
        <p:txBody>
          <a:bodyPr wrap="square">
            <a:spAutoFit/>
          </a:bodyPr>
          <a:lstStyle>
            <a:defPPr rtl="0">
              <a:defRPr lang="es-ES"/>
            </a:defPPr>
            <a:lvl1pPr algn="just">
              <a:defRPr sz="2000">
                <a:latin typeface="Antique Olive"/>
              </a:defRPr>
            </a:lvl1pPr>
          </a:lstStyle>
          <a:p>
            <a:r>
              <a:rPr lang="es-MX" sz="1800" dirty="0"/>
              <a:t>¿Alguna vez han perdido una funcionalidad que ya operaba por intentar arreglar otra, o han terminado con archivos llamados "index_final_v2_este_si.html"?</a:t>
            </a:r>
            <a:endParaRPr lang="es-PE" sz="1800" dirty="0"/>
          </a:p>
        </p:txBody>
      </p:sp>
      <p:sp>
        <p:nvSpPr>
          <p:cNvPr id="12" name="CuadroTexto 11">
            <a:extLst>
              <a:ext uri="{FF2B5EF4-FFF2-40B4-BE49-F238E27FC236}">
                <a16:creationId xmlns:a16="http://schemas.microsoft.com/office/drawing/2014/main" id="{75EBC5F9-DFEE-4354-8DE6-83E115A1B84D}"/>
              </a:ext>
            </a:extLst>
          </p:cNvPr>
          <p:cNvSpPr txBox="1"/>
          <p:nvPr/>
        </p:nvSpPr>
        <p:spPr>
          <a:xfrm>
            <a:off x="1670044" y="2886762"/>
            <a:ext cx="8848736" cy="923330"/>
          </a:xfrm>
          <a:prstGeom prst="rect">
            <a:avLst/>
          </a:prstGeom>
          <a:noFill/>
        </p:spPr>
        <p:txBody>
          <a:bodyPr wrap="square">
            <a:spAutoFit/>
          </a:bodyPr>
          <a:lstStyle>
            <a:defPPr rtl="0">
              <a:defRPr lang="es-ES"/>
            </a:defPPr>
            <a:lvl1pPr algn="just">
              <a:defRPr sz="1600">
                <a:latin typeface="Antique Olive"/>
              </a:defRPr>
            </a:lvl1pPr>
          </a:lstStyle>
          <a:p>
            <a:r>
              <a:rPr lang="es-MX" sz="1800" dirty="0"/>
              <a:t>¿Qué pasaría si tu equipo de desarrollo web modifica simultáneamente el archivo index.html, alguien rompe el diseño CSS y no existe forma de volver a la versión que sí funcionaba?</a:t>
            </a:r>
            <a:endParaRPr lang="es-PE" sz="1800" dirty="0"/>
          </a:p>
        </p:txBody>
      </p:sp>
      <p:sp>
        <p:nvSpPr>
          <p:cNvPr id="14" name="CuadroTexto 13">
            <a:extLst>
              <a:ext uri="{FF2B5EF4-FFF2-40B4-BE49-F238E27FC236}">
                <a16:creationId xmlns:a16="http://schemas.microsoft.com/office/drawing/2014/main" id="{0080D1DA-39BB-477D-BA8A-B241816551B9}"/>
              </a:ext>
            </a:extLst>
          </p:cNvPr>
          <p:cNvSpPr txBox="1"/>
          <p:nvPr/>
        </p:nvSpPr>
        <p:spPr>
          <a:xfrm>
            <a:off x="3430116" y="3969731"/>
            <a:ext cx="4104456" cy="369332"/>
          </a:xfrm>
          <a:prstGeom prst="rect">
            <a:avLst/>
          </a:prstGeom>
          <a:noFill/>
        </p:spPr>
        <p:txBody>
          <a:bodyPr wrap="square">
            <a:spAutoFit/>
          </a:bodyPr>
          <a:lstStyle>
            <a:defPPr rtl="0">
              <a:defRPr lang="es-ES"/>
            </a:defPPr>
            <a:lvl1pPr algn="just">
              <a:defRPr sz="1600">
                <a:latin typeface="Antique Olive"/>
              </a:defRPr>
            </a:lvl1pPr>
          </a:lstStyle>
          <a:p>
            <a:r>
              <a:rPr lang="es-MX" sz="1800" dirty="0"/>
              <a:t>¿Cómo recuperamos una versión estable?</a:t>
            </a:r>
            <a:endParaRPr lang="es-PE" sz="1800" dirty="0"/>
          </a:p>
        </p:txBody>
      </p:sp>
      <p:sp>
        <p:nvSpPr>
          <p:cNvPr id="18" name="CuadroTexto 17">
            <a:extLst>
              <a:ext uri="{FF2B5EF4-FFF2-40B4-BE49-F238E27FC236}">
                <a16:creationId xmlns:a16="http://schemas.microsoft.com/office/drawing/2014/main" id="{0EB22AAE-2CF1-4EBC-8DF8-74881D578799}"/>
              </a:ext>
            </a:extLst>
          </p:cNvPr>
          <p:cNvSpPr txBox="1"/>
          <p:nvPr/>
        </p:nvSpPr>
        <p:spPr>
          <a:xfrm>
            <a:off x="3430116" y="4367282"/>
            <a:ext cx="4104456" cy="369332"/>
          </a:xfrm>
          <a:prstGeom prst="rect">
            <a:avLst/>
          </a:prstGeom>
          <a:noFill/>
        </p:spPr>
        <p:txBody>
          <a:bodyPr wrap="square">
            <a:spAutoFit/>
          </a:bodyPr>
          <a:lstStyle>
            <a:defPPr rtl="0">
              <a:defRPr lang="es-ES"/>
            </a:defPPr>
            <a:lvl1pPr algn="just">
              <a:defRPr sz="1800">
                <a:latin typeface="Antique Olive"/>
              </a:defRPr>
            </a:lvl1pPr>
          </a:lstStyle>
          <a:p>
            <a:r>
              <a:rPr lang="es-MX" dirty="0"/>
              <a:t>¿Cómo sabemos quién cambió qué?</a:t>
            </a:r>
            <a:endParaRPr lang="es-PE" dirty="0"/>
          </a:p>
        </p:txBody>
      </p:sp>
      <p:sp>
        <p:nvSpPr>
          <p:cNvPr id="19" name="CuadroTexto 18">
            <a:extLst>
              <a:ext uri="{FF2B5EF4-FFF2-40B4-BE49-F238E27FC236}">
                <a16:creationId xmlns:a16="http://schemas.microsoft.com/office/drawing/2014/main" id="{726FB0D5-C867-40C3-BD7D-9CEB376EDE37}"/>
              </a:ext>
            </a:extLst>
          </p:cNvPr>
          <p:cNvSpPr txBox="1"/>
          <p:nvPr/>
        </p:nvSpPr>
        <p:spPr>
          <a:xfrm>
            <a:off x="3430116" y="4780022"/>
            <a:ext cx="6096000" cy="369332"/>
          </a:xfrm>
          <a:prstGeom prst="rect">
            <a:avLst/>
          </a:prstGeom>
          <a:noFill/>
        </p:spPr>
        <p:txBody>
          <a:bodyPr wrap="square">
            <a:spAutoFit/>
          </a:bodyPr>
          <a:lstStyle>
            <a:defPPr rtl="0">
              <a:defRPr lang="es-ES"/>
            </a:defPPr>
            <a:lvl1pPr algn="just">
              <a:defRPr sz="1800">
                <a:latin typeface="Antique Olive"/>
              </a:defRPr>
            </a:lvl1pPr>
          </a:lstStyle>
          <a:p>
            <a:r>
              <a:rPr lang="es-MX" dirty="0"/>
              <a:t>¿Cómo evitamos sobrescribir el trabajo de otro compañero?</a:t>
            </a:r>
            <a:endParaRPr lang="es-PE" dirty="0"/>
          </a:p>
        </p:txBody>
      </p:sp>
      <p:sp>
        <p:nvSpPr>
          <p:cNvPr id="20" name="CuadroTexto 19">
            <a:extLst>
              <a:ext uri="{FF2B5EF4-FFF2-40B4-BE49-F238E27FC236}">
                <a16:creationId xmlns:a16="http://schemas.microsoft.com/office/drawing/2014/main" id="{5D1E2D11-5BFF-4AC4-B8AE-E96AF2D385AF}"/>
              </a:ext>
            </a:extLst>
          </p:cNvPr>
          <p:cNvSpPr txBox="1"/>
          <p:nvPr/>
        </p:nvSpPr>
        <p:spPr>
          <a:xfrm>
            <a:off x="3430116" y="5229200"/>
            <a:ext cx="7632848" cy="369332"/>
          </a:xfrm>
          <a:prstGeom prst="rect">
            <a:avLst/>
          </a:prstGeom>
          <a:noFill/>
        </p:spPr>
        <p:txBody>
          <a:bodyPr wrap="square">
            <a:spAutoFit/>
          </a:bodyPr>
          <a:lstStyle>
            <a:defPPr rtl="0">
              <a:defRPr lang="es-ES"/>
            </a:defPPr>
            <a:lvl1pPr algn="just">
              <a:defRPr sz="1800">
                <a:latin typeface="Antique Olive"/>
              </a:defRPr>
            </a:lvl1pPr>
          </a:lstStyle>
          <a:p>
            <a:r>
              <a:rPr lang="es-MX" dirty="0"/>
              <a:t>¿Cómo desarrollamos una nueva funcionalidad sin dañar la versión principal?</a:t>
            </a:r>
            <a:endParaRPr lang="es-PE" dirty="0"/>
          </a:p>
        </p:txBody>
      </p:sp>
      <p:sp>
        <p:nvSpPr>
          <p:cNvPr id="21" name="Rectángulo: esquinas redondeadas 20">
            <a:extLst>
              <a:ext uri="{FF2B5EF4-FFF2-40B4-BE49-F238E27FC236}">
                <a16:creationId xmlns:a16="http://schemas.microsoft.com/office/drawing/2014/main" id="{5070A748-3ED4-42EC-B93A-4CB9070FBDAD}"/>
              </a:ext>
            </a:extLst>
          </p:cNvPr>
          <p:cNvSpPr/>
          <p:nvPr/>
        </p:nvSpPr>
        <p:spPr>
          <a:xfrm>
            <a:off x="3142084" y="4046385"/>
            <a:ext cx="288032" cy="21602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Rectángulo: esquinas redondeadas 21">
            <a:extLst>
              <a:ext uri="{FF2B5EF4-FFF2-40B4-BE49-F238E27FC236}">
                <a16:creationId xmlns:a16="http://schemas.microsoft.com/office/drawing/2014/main" id="{95ED98EA-E8ED-4098-9BCB-A962ED19B911}"/>
              </a:ext>
            </a:extLst>
          </p:cNvPr>
          <p:cNvSpPr/>
          <p:nvPr/>
        </p:nvSpPr>
        <p:spPr>
          <a:xfrm>
            <a:off x="3142084" y="4458561"/>
            <a:ext cx="288032" cy="21602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Rectángulo: esquinas redondeadas 22">
            <a:extLst>
              <a:ext uri="{FF2B5EF4-FFF2-40B4-BE49-F238E27FC236}">
                <a16:creationId xmlns:a16="http://schemas.microsoft.com/office/drawing/2014/main" id="{52AF56E1-6C9D-4B24-9B2E-BDA42CB0B83B}"/>
              </a:ext>
            </a:extLst>
          </p:cNvPr>
          <p:cNvSpPr/>
          <p:nvPr/>
        </p:nvSpPr>
        <p:spPr>
          <a:xfrm>
            <a:off x="3142084" y="4878632"/>
            <a:ext cx="288032" cy="21602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Rectángulo: esquinas redondeadas 23">
            <a:extLst>
              <a:ext uri="{FF2B5EF4-FFF2-40B4-BE49-F238E27FC236}">
                <a16:creationId xmlns:a16="http://schemas.microsoft.com/office/drawing/2014/main" id="{432587CB-C32C-4ACB-BCEB-FEF5E93FE8C9}"/>
              </a:ext>
            </a:extLst>
          </p:cNvPr>
          <p:cNvSpPr/>
          <p:nvPr/>
        </p:nvSpPr>
        <p:spPr>
          <a:xfrm>
            <a:off x="3142084" y="5305854"/>
            <a:ext cx="288032" cy="21602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randombar(horizontal)">
                                      <p:cBhvr>
                                        <p:cTn id="33" dur="500"/>
                                        <p:tgtEl>
                                          <p:spTgt spid="22"/>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randombar(horizontal)">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8" grpId="0"/>
      <p:bldP spid="19" grpId="0"/>
      <p:bldP spid="20" grpId="0"/>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14">
            <a:extLst>
              <a:ext uri="{FF2B5EF4-FFF2-40B4-BE49-F238E27FC236}">
                <a16:creationId xmlns:a16="http://schemas.microsoft.com/office/drawing/2014/main" id="{2722B904-B1CE-4008-AF0D-C05DC9BBAF95}"/>
              </a:ext>
            </a:extLst>
          </p:cNvPr>
          <p:cNvSpPr txBox="1"/>
          <p:nvPr/>
        </p:nvSpPr>
        <p:spPr>
          <a:xfrm>
            <a:off x="1341884" y="908720"/>
            <a:ext cx="6096000" cy="461665"/>
          </a:xfrm>
          <a:prstGeom prst="rect">
            <a:avLst/>
          </a:prstGeom>
          <a:noFill/>
        </p:spPr>
        <p:txBody>
          <a:bodyPr wrap="square">
            <a:spAutoFit/>
          </a:bodyPr>
          <a:lstStyle/>
          <a:p>
            <a:r>
              <a:rPr lang="es-PE" b="1" dirty="0">
                <a:solidFill>
                  <a:schemeClr val="accent5"/>
                </a:solidFill>
                <a:latin typeface="Antique Olive" panose="020B0603020204030204"/>
              </a:rPr>
              <a:t>Caso de éxito breve</a:t>
            </a:r>
          </a:p>
        </p:txBody>
      </p:sp>
      <p:sp>
        <p:nvSpPr>
          <p:cNvPr id="16" name="CuadroTexto 15">
            <a:extLst>
              <a:ext uri="{FF2B5EF4-FFF2-40B4-BE49-F238E27FC236}">
                <a16:creationId xmlns:a16="http://schemas.microsoft.com/office/drawing/2014/main" id="{9BBDF377-47F6-4305-9421-F5C196F431EF}"/>
              </a:ext>
            </a:extLst>
          </p:cNvPr>
          <p:cNvSpPr txBox="1"/>
          <p:nvPr/>
        </p:nvSpPr>
        <p:spPr>
          <a:xfrm>
            <a:off x="1341884" y="1628800"/>
            <a:ext cx="9433048" cy="1938992"/>
          </a:xfrm>
          <a:prstGeom prst="rect">
            <a:avLst/>
          </a:prstGeom>
          <a:noFill/>
        </p:spPr>
        <p:txBody>
          <a:bodyPr wrap="square">
            <a:spAutoFit/>
          </a:bodyPr>
          <a:lstStyle/>
          <a:p>
            <a:pPr algn="just"/>
            <a:r>
              <a:rPr lang="es-MX" sz="2000" dirty="0">
                <a:latin typeface="Antique Olive" panose="020B0603020204030204"/>
              </a:rPr>
              <a:t>Git se convirtió en el estándar de facto del desarrollo colaborativo moderno, debido a su capacidad para gestionar revisiones, ramas y fusiones de código de forma flexible y robusta en proyectos de software de distinta escala. La literatura científica destaca que los sistemas de control de versiones distribuidos, como Git, son fundamentales para la evolución del software y la coordinación entre desarrolladores (Cesario, </a:t>
            </a:r>
            <a:r>
              <a:rPr lang="es-MX" sz="2000" dirty="0" err="1">
                <a:latin typeface="Antique Olive" panose="020B0603020204030204"/>
              </a:rPr>
              <a:t>Interian</a:t>
            </a:r>
            <a:r>
              <a:rPr lang="es-MX" sz="2000" dirty="0">
                <a:latin typeface="Antique Olive" panose="020B0603020204030204"/>
              </a:rPr>
              <a:t> y Murta 2017; </a:t>
            </a:r>
            <a:r>
              <a:rPr lang="es-MX" sz="2000" dirty="0" err="1">
                <a:latin typeface="Antique Olive" panose="020B0603020204030204"/>
              </a:rPr>
              <a:t>Khelladi</a:t>
            </a:r>
            <a:r>
              <a:rPr lang="es-MX" sz="2000" dirty="0">
                <a:latin typeface="Antique Olive" panose="020B0603020204030204"/>
              </a:rPr>
              <a:t> et al. 2021).</a:t>
            </a:r>
            <a:endParaRPr lang="es-PE" sz="2000" dirty="0">
              <a:latin typeface="Antique Olive" panose="020B0603020204030204"/>
            </a:endParaRPr>
          </a:p>
        </p:txBody>
      </p:sp>
    </p:spTree>
    <p:extLst>
      <p:ext uri="{BB962C8B-B14F-4D97-AF65-F5344CB8AC3E}">
        <p14:creationId xmlns:p14="http://schemas.microsoft.com/office/powerpoint/2010/main" val="398891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1629916" y="817747"/>
            <a:ext cx="1808316" cy="584775"/>
          </a:xfrm>
          <a:prstGeom prst="rect">
            <a:avLst/>
          </a:prstGeom>
          <a:noFill/>
        </p:spPr>
        <p:txBody>
          <a:bodyPr wrap="none" rtlCol="0">
            <a:spAutoFit/>
          </a:bodyPr>
          <a:lstStyle/>
          <a:p>
            <a:r>
              <a:rPr lang="es-PE" sz="3200" b="1" dirty="0">
                <a:solidFill>
                  <a:schemeClr val="accent5"/>
                </a:solidFill>
                <a:latin typeface="Antique Olive" panose="020B0603020204030204"/>
              </a:rPr>
              <a:t>Objetivos</a:t>
            </a:r>
          </a:p>
        </p:txBody>
      </p:sp>
      <p:sp>
        <p:nvSpPr>
          <p:cNvPr id="7" name="CuadroTexto 6">
            <a:extLst>
              <a:ext uri="{FF2B5EF4-FFF2-40B4-BE49-F238E27FC236}">
                <a16:creationId xmlns:a16="http://schemas.microsoft.com/office/drawing/2014/main" id="{5801FAB7-EE3D-4C5B-92AC-F6EAB7913716}"/>
              </a:ext>
            </a:extLst>
          </p:cNvPr>
          <p:cNvSpPr txBox="1"/>
          <p:nvPr/>
        </p:nvSpPr>
        <p:spPr>
          <a:xfrm>
            <a:off x="2133972" y="1814626"/>
            <a:ext cx="8568952" cy="461665"/>
          </a:xfrm>
          <a:prstGeom prst="rect">
            <a:avLst/>
          </a:prstGeom>
          <a:noFill/>
        </p:spPr>
        <p:txBody>
          <a:bodyPr wrap="square" rtlCol="0">
            <a:spAutoFit/>
          </a:bodyPr>
          <a:lstStyle/>
          <a:p>
            <a:pPr algn="just"/>
            <a:r>
              <a:rPr lang="es-PE" dirty="0">
                <a:latin typeface="Antique Olive" panose="020B0603020204030204"/>
              </a:rPr>
              <a:t>Comprender el concepto de control de versiones.</a:t>
            </a:r>
          </a:p>
        </p:txBody>
      </p:sp>
      <p:sp>
        <p:nvSpPr>
          <p:cNvPr id="10" name="CuadroTexto 9">
            <a:extLst>
              <a:ext uri="{FF2B5EF4-FFF2-40B4-BE49-F238E27FC236}">
                <a16:creationId xmlns:a16="http://schemas.microsoft.com/office/drawing/2014/main" id="{60CC44EB-28E3-4190-993E-FCC63D8D4A49}"/>
              </a:ext>
            </a:extLst>
          </p:cNvPr>
          <p:cNvSpPr txBox="1"/>
          <p:nvPr/>
        </p:nvSpPr>
        <p:spPr>
          <a:xfrm>
            <a:off x="2133972" y="2484764"/>
            <a:ext cx="8568952" cy="461665"/>
          </a:xfrm>
          <a:prstGeom prst="rect">
            <a:avLst/>
          </a:prstGeom>
          <a:noFill/>
        </p:spPr>
        <p:txBody>
          <a:bodyPr wrap="square" rtlCol="0">
            <a:spAutoFit/>
          </a:bodyPr>
          <a:lstStyle/>
          <a:p>
            <a:pPr algn="just"/>
            <a:r>
              <a:rPr lang="es-PE" dirty="0">
                <a:latin typeface="Antique Olive" panose="020B0603020204030204"/>
              </a:rPr>
              <a:t>Aplicar comandos básicos de Git en entorno local.</a:t>
            </a:r>
          </a:p>
        </p:txBody>
      </p:sp>
      <p:sp>
        <p:nvSpPr>
          <p:cNvPr id="11" name="CuadroTexto 10">
            <a:extLst>
              <a:ext uri="{FF2B5EF4-FFF2-40B4-BE49-F238E27FC236}">
                <a16:creationId xmlns:a16="http://schemas.microsoft.com/office/drawing/2014/main" id="{BDD11654-C585-4C99-B554-AC7E72C43E0D}"/>
              </a:ext>
            </a:extLst>
          </p:cNvPr>
          <p:cNvSpPr txBox="1"/>
          <p:nvPr/>
        </p:nvSpPr>
        <p:spPr>
          <a:xfrm>
            <a:off x="2133972" y="3164919"/>
            <a:ext cx="8568952" cy="461665"/>
          </a:xfrm>
          <a:prstGeom prst="rect">
            <a:avLst/>
          </a:prstGeom>
          <a:noFill/>
        </p:spPr>
        <p:txBody>
          <a:bodyPr wrap="square" rtlCol="0">
            <a:spAutoFit/>
          </a:bodyPr>
          <a:lstStyle/>
          <a:p>
            <a:pPr algn="just"/>
            <a:r>
              <a:rPr lang="es-PE" dirty="0">
                <a:latin typeface="Antique Olive" panose="020B0603020204030204"/>
              </a:rPr>
              <a:t>Implementar buenas prácticas de </a:t>
            </a:r>
            <a:r>
              <a:rPr lang="es-PE" dirty="0" err="1">
                <a:latin typeface="Antique Olive" panose="020B0603020204030204"/>
              </a:rPr>
              <a:t>commits</a:t>
            </a:r>
            <a:r>
              <a:rPr lang="es-PE" dirty="0">
                <a:latin typeface="Antique Olive" panose="020B0603020204030204"/>
              </a:rPr>
              <a:t>.</a:t>
            </a:r>
          </a:p>
        </p:txBody>
      </p:sp>
      <p:sp>
        <p:nvSpPr>
          <p:cNvPr id="12" name="CuadroTexto 11">
            <a:extLst>
              <a:ext uri="{FF2B5EF4-FFF2-40B4-BE49-F238E27FC236}">
                <a16:creationId xmlns:a16="http://schemas.microsoft.com/office/drawing/2014/main" id="{E8F812FB-871B-49B9-A107-9619002F77B7}"/>
              </a:ext>
            </a:extLst>
          </p:cNvPr>
          <p:cNvSpPr txBox="1"/>
          <p:nvPr/>
        </p:nvSpPr>
        <p:spPr>
          <a:xfrm>
            <a:off x="2133972" y="3825040"/>
            <a:ext cx="8568952" cy="461665"/>
          </a:xfrm>
          <a:prstGeom prst="rect">
            <a:avLst/>
          </a:prstGeom>
          <a:noFill/>
        </p:spPr>
        <p:txBody>
          <a:bodyPr wrap="square" rtlCol="0">
            <a:spAutoFit/>
          </a:bodyPr>
          <a:lstStyle/>
          <a:p>
            <a:pPr algn="just"/>
            <a:r>
              <a:rPr lang="es-PE" dirty="0">
                <a:latin typeface="Antique Olive" panose="020B0603020204030204"/>
              </a:rPr>
              <a:t>Gestionar ramas y realizar </a:t>
            </a:r>
            <a:r>
              <a:rPr lang="es-PE" dirty="0" err="1">
                <a:latin typeface="Antique Olive" panose="020B0603020204030204"/>
              </a:rPr>
              <a:t>merges</a:t>
            </a:r>
            <a:r>
              <a:rPr lang="es-PE" dirty="0">
                <a:latin typeface="Antique Olive" panose="020B0603020204030204"/>
              </a:rPr>
              <a:t> correctamente.</a:t>
            </a:r>
          </a:p>
        </p:txBody>
      </p:sp>
      <p:sp>
        <p:nvSpPr>
          <p:cNvPr id="8" name="Elipse 7">
            <a:extLst>
              <a:ext uri="{FF2B5EF4-FFF2-40B4-BE49-F238E27FC236}">
                <a16:creationId xmlns:a16="http://schemas.microsoft.com/office/drawing/2014/main" id="{9D64705E-360B-42AE-9D91-430C3CA609BE}"/>
              </a:ext>
            </a:extLst>
          </p:cNvPr>
          <p:cNvSpPr/>
          <p:nvPr/>
        </p:nvSpPr>
        <p:spPr>
          <a:xfrm>
            <a:off x="1744216" y="1834661"/>
            <a:ext cx="389756" cy="3600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Elipse 15">
            <a:extLst>
              <a:ext uri="{FF2B5EF4-FFF2-40B4-BE49-F238E27FC236}">
                <a16:creationId xmlns:a16="http://schemas.microsoft.com/office/drawing/2014/main" id="{63F3A926-7B27-4A22-9C8B-831B679575F4}"/>
              </a:ext>
            </a:extLst>
          </p:cNvPr>
          <p:cNvSpPr/>
          <p:nvPr/>
        </p:nvSpPr>
        <p:spPr>
          <a:xfrm>
            <a:off x="1744216" y="2504799"/>
            <a:ext cx="389756" cy="3600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Elipse 16">
            <a:extLst>
              <a:ext uri="{FF2B5EF4-FFF2-40B4-BE49-F238E27FC236}">
                <a16:creationId xmlns:a16="http://schemas.microsoft.com/office/drawing/2014/main" id="{D2955301-A5B4-4196-9776-92F51A4906CD}"/>
              </a:ext>
            </a:extLst>
          </p:cNvPr>
          <p:cNvSpPr/>
          <p:nvPr/>
        </p:nvSpPr>
        <p:spPr>
          <a:xfrm>
            <a:off x="1744216" y="3184954"/>
            <a:ext cx="389756" cy="3600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Elipse 17">
            <a:extLst>
              <a:ext uri="{FF2B5EF4-FFF2-40B4-BE49-F238E27FC236}">
                <a16:creationId xmlns:a16="http://schemas.microsoft.com/office/drawing/2014/main" id="{1AEEE6EB-285E-4479-A742-A21B9BD4B234}"/>
              </a:ext>
            </a:extLst>
          </p:cNvPr>
          <p:cNvSpPr/>
          <p:nvPr/>
        </p:nvSpPr>
        <p:spPr>
          <a:xfrm>
            <a:off x="1764550" y="3841299"/>
            <a:ext cx="389756" cy="3600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388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Concepto de control de versiones</a:t>
            </a:r>
          </a:p>
        </p:txBody>
      </p:sp>
      <p:sp>
        <p:nvSpPr>
          <p:cNvPr id="7" name="CuadroTexto 6">
            <a:extLst>
              <a:ext uri="{FF2B5EF4-FFF2-40B4-BE49-F238E27FC236}">
                <a16:creationId xmlns:a16="http://schemas.microsoft.com/office/drawing/2014/main" id="{7DBCEDB5-68D7-4229-90E3-B5FCA0055CB6}"/>
              </a:ext>
            </a:extLst>
          </p:cNvPr>
          <p:cNvSpPr txBox="1"/>
          <p:nvPr/>
        </p:nvSpPr>
        <p:spPr>
          <a:xfrm>
            <a:off x="765820" y="908720"/>
            <a:ext cx="7488832" cy="461665"/>
          </a:xfrm>
          <a:prstGeom prst="rect">
            <a:avLst/>
          </a:prstGeom>
          <a:noFill/>
        </p:spPr>
        <p:txBody>
          <a:bodyPr wrap="square" rtlCol="0">
            <a:spAutoFit/>
          </a:bodyPr>
          <a:lstStyle/>
          <a:p>
            <a:r>
              <a:rPr lang="es-PE" b="1" dirty="0">
                <a:solidFill>
                  <a:schemeClr val="accent5"/>
                </a:solidFill>
                <a:latin typeface="Antique Olive"/>
              </a:rPr>
              <a:t>Definición:</a:t>
            </a:r>
          </a:p>
        </p:txBody>
      </p:sp>
      <p:sp>
        <p:nvSpPr>
          <p:cNvPr id="9" name="CuadroTexto 8">
            <a:extLst>
              <a:ext uri="{FF2B5EF4-FFF2-40B4-BE49-F238E27FC236}">
                <a16:creationId xmlns:a16="http://schemas.microsoft.com/office/drawing/2014/main" id="{AA674F6E-1CA1-4E8C-98C8-D4D10303A1BB}"/>
              </a:ext>
            </a:extLst>
          </p:cNvPr>
          <p:cNvSpPr txBox="1"/>
          <p:nvPr/>
        </p:nvSpPr>
        <p:spPr>
          <a:xfrm>
            <a:off x="783577" y="1423229"/>
            <a:ext cx="6390955" cy="1015663"/>
          </a:xfrm>
          <a:prstGeom prst="rect">
            <a:avLst/>
          </a:prstGeom>
          <a:noFill/>
        </p:spPr>
        <p:txBody>
          <a:bodyPr wrap="square">
            <a:spAutoFit/>
          </a:bodyPr>
          <a:lstStyle/>
          <a:p>
            <a:pPr algn="just"/>
            <a:r>
              <a:rPr lang="es-MX" sz="2000" dirty="0">
                <a:latin typeface="Antique Olive" panose="020B0603020204030204"/>
              </a:rPr>
              <a:t>El control de versiones es un sistema que permite registrar, rastrear, comparar y recuperar cambios realizados en archivos de un proyecto a lo largo del tiempo.</a:t>
            </a:r>
            <a:endParaRPr lang="es-PE" sz="2000" dirty="0">
              <a:latin typeface="Antique Olive" panose="020B0603020204030204"/>
            </a:endParaRPr>
          </a:p>
        </p:txBody>
      </p:sp>
      <p:pic>
        <p:nvPicPr>
          <p:cNvPr id="11" name="Imagen 10">
            <a:extLst>
              <a:ext uri="{FF2B5EF4-FFF2-40B4-BE49-F238E27FC236}">
                <a16:creationId xmlns:a16="http://schemas.microsoft.com/office/drawing/2014/main" id="{47D5B26E-32A8-4448-B43C-308AC30FBF63}"/>
              </a:ext>
            </a:extLst>
          </p:cNvPr>
          <p:cNvPicPr>
            <a:picLocks noChangeAspect="1"/>
          </p:cNvPicPr>
          <p:nvPr/>
        </p:nvPicPr>
        <p:blipFill rotWithShape="1">
          <a:blip r:embed="rId3"/>
          <a:srcRect t="13170" b="11232"/>
          <a:stretch/>
        </p:blipFill>
        <p:spPr>
          <a:xfrm>
            <a:off x="8470676" y="1628800"/>
            <a:ext cx="3312368" cy="2808312"/>
          </a:xfrm>
          <a:prstGeom prst="rect">
            <a:avLst/>
          </a:prstGeom>
        </p:spPr>
      </p:pic>
      <p:sp>
        <p:nvSpPr>
          <p:cNvPr id="15" name="CuadroTexto 14">
            <a:extLst>
              <a:ext uri="{FF2B5EF4-FFF2-40B4-BE49-F238E27FC236}">
                <a16:creationId xmlns:a16="http://schemas.microsoft.com/office/drawing/2014/main" id="{925F2532-D8B6-4E0A-9D54-AA256EB1143A}"/>
              </a:ext>
            </a:extLst>
          </p:cNvPr>
          <p:cNvSpPr txBox="1"/>
          <p:nvPr/>
        </p:nvSpPr>
        <p:spPr>
          <a:xfrm>
            <a:off x="783577" y="2603979"/>
            <a:ext cx="6408712" cy="1015663"/>
          </a:xfrm>
          <a:prstGeom prst="rect">
            <a:avLst/>
          </a:prstGeom>
          <a:noFill/>
        </p:spPr>
        <p:txBody>
          <a:bodyPr wrap="square">
            <a:spAutoFit/>
          </a:bodyPr>
          <a:lstStyle/>
          <a:p>
            <a:pPr algn="just"/>
            <a:r>
              <a:rPr lang="es-PE" sz="2000" dirty="0">
                <a:latin typeface="Antique Olive" panose="020B0603020204030204"/>
              </a:rPr>
              <a:t>Según </a:t>
            </a:r>
            <a:r>
              <a:rPr lang="es-PE" sz="2000" dirty="0" err="1">
                <a:latin typeface="Antique Olive" panose="020B0603020204030204"/>
              </a:rPr>
              <a:t>Spinellis</a:t>
            </a:r>
            <a:r>
              <a:rPr lang="es-PE" sz="2000" dirty="0">
                <a:latin typeface="Antique Olive" panose="020B0603020204030204"/>
              </a:rPr>
              <a:t> (2012), los sistemas de control de versiones permiten gestionar la evolución del software y coordinar el trabajo en equipo de manera eficiente. </a:t>
            </a:r>
          </a:p>
        </p:txBody>
      </p:sp>
      <p:sp>
        <p:nvSpPr>
          <p:cNvPr id="18" name="CuadroTexto 17">
            <a:extLst>
              <a:ext uri="{FF2B5EF4-FFF2-40B4-BE49-F238E27FC236}">
                <a16:creationId xmlns:a16="http://schemas.microsoft.com/office/drawing/2014/main" id="{66FD0C0A-E729-4BBA-A8C8-3585B4077E45}"/>
              </a:ext>
            </a:extLst>
          </p:cNvPr>
          <p:cNvSpPr txBox="1"/>
          <p:nvPr/>
        </p:nvSpPr>
        <p:spPr>
          <a:xfrm>
            <a:off x="765820" y="3943840"/>
            <a:ext cx="6408712" cy="400110"/>
          </a:xfrm>
          <a:prstGeom prst="rect">
            <a:avLst/>
          </a:prstGeom>
          <a:noFill/>
        </p:spPr>
        <p:txBody>
          <a:bodyPr wrap="square">
            <a:spAutoFit/>
          </a:bodyPr>
          <a:lstStyle/>
          <a:p>
            <a:pPr algn="just"/>
            <a:r>
              <a:rPr lang="es-PE" sz="2000" b="1" dirty="0">
                <a:solidFill>
                  <a:schemeClr val="accent5"/>
                </a:solidFill>
                <a:latin typeface="Antique Olive" panose="020B0603020204030204"/>
              </a:rPr>
              <a:t>Puntos clave:</a:t>
            </a:r>
          </a:p>
        </p:txBody>
      </p:sp>
      <p:sp>
        <p:nvSpPr>
          <p:cNvPr id="19" name="CuadroTexto 18">
            <a:extLst>
              <a:ext uri="{FF2B5EF4-FFF2-40B4-BE49-F238E27FC236}">
                <a16:creationId xmlns:a16="http://schemas.microsoft.com/office/drawing/2014/main" id="{CDB9EB8C-2105-4385-841D-0A6A1D800529}"/>
              </a:ext>
            </a:extLst>
          </p:cNvPr>
          <p:cNvSpPr txBox="1"/>
          <p:nvPr/>
        </p:nvSpPr>
        <p:spPr>
          <a:xfrm>
            <a:off x="1197868" y="4343533"/>
            <a:ext cx="5976664" cy="400110"/>
          </a:xfrm>
          <a:prstGeom prst="rect">
            <a:avLst/>
          </a:prstGeom>
          <a:noFill/>
        </p:spPr>
        <p:txBody>
          <a:bodyPr wrap="square">
            <a:spAutoFit/>
          </a:bodyPr>
          <a:lstStyle/>
          <a:p>
            <a:pPr algn="just"/>
            <a:r>
              <a:rPr lang="es-PE" sz="2000" dirty="0">
                <a:latin typeface="Antique Olive" panose="020B0603020204030204"/>
              </a:rPr>
              <a:t>Trazabilidad (quién, cuándo, qué)</a:t>
            </a:r>
          </a:p>
        </p:txBody>
      </p:sp>
      <p:sp>
        <p:nvSpPr>
          <p:cNvPr id="21" name="CuadroTexto 20">
            <a:extLst>
              <a:ext uri="{FF2B5EF4-FFF2-40B4-BE49-F238E27FC236}">
                <a16:creationId xmlns:a16="http://schemas.microsoft.com/office/drawing/2014/main" id="{F3693D28-F540-439F-B32E-7F8BACA8C792}"/>
              </a:ext>
            </a:extLst>
          </p:cNvPr>
          <p:cNvSpPr txBox="1"/>
          <p:nvPr/>
        </p:nvSpPr>
        <p:spPr>
          <a:xfrm>
            <a:off x="1197868" y="4765379"/>
            <a:ext cx="5976664" cy="400110"/>
          </a:xfrm>
          <a:prstGeom prst="rect">
            <a:avLst/>
          </a:prstGeom>
          <a:noFill/>
        </p:spPr>
        <p:txBody>
          <a:bodyPr wrap="square">
            <a:spAutoFit/>
          </a:bodyPr>
          <a:lstStyle/>
          <a:p>
            <a:pPr algn="just"/>
            <a:r>
              <a:rPr lang="es-PE" sz="2000" dirty="0">
                <a:latin typeface="Antique Olive" panose="020B0603020204030204"/>
              </a:rPr>
              <a:t>Reversibilidad.</a:t>
            </a:r>
          </a:p>
        </p:txBody>
      </p:sp>
      <p:sp>
        <p:nvSpPr>
          <p:cNvPr id="22" name="CuadroTexto 21">
            <a:extLst>
              <a:ext uri="{FF2B5EF4-FFF2-40B4-BE49-F238E27FC236}">
                <a16:creationId xmlns:a16="http://schemas.microsoft.com/office/drawing/2014/main" id="{21BD6A74-9196-43CA-BC52-A5E44225FD15}"/>
              </a:ext>
            </a:extLst>
          </p:cNvPr>
          <p:cNvSpPr txBox="1"/>
          <p:nvPr/>
        </p:nvSpPr>
        <p:spPr>
          <a:xfrm>
            <a:off x="1187941" y="5189130"/>
            <a:ext cx="5976664" cy="400110"/>
          </a:xfrm>
          <a:prstGeom prst="rect">
            <a:avLst/>
          </a:prstGeom>
          <a:noFill/>
        </p:spPr>
        <p:txBody>
          <a:bodyPr wrap="square">
            <a:spAutoFit/>
          </a:bodyPr>
          <a:lstStyle/>
          <a:p>
            <a:pPr algn="just"/>
            <a:r>
              <a:rPr lang="es-PE" sz="2000" dirty="0">
                <a:latin typeface="Antique Olive" panose="020B0603020204030204"/>
              </a:rPr>
              <a:t>Trabajo en paralelo.</a:t>
            </a:r>
          </a:p>
        </p:txBody>
      </p:sp>
      <p:sp>
        <p:nvSpPr>
          <p:cNvPr id="16" name="Sol 15">
            <a:extLst>
              <a:ext uri="{FF2B5EF4-FFF2-40B4-BE49-F238E27FC236}">
                <a16:creationId xmlns:a16="http://schemas.microsoft.com/office/drawing/2014/main" id="{4B004196-D309-42A2-940B-79357A98AC83}"/>
              </a:ext>
            </a:extLst>
          </p:cNvPr>
          <p:cNvSpPr/>
          <p:nvPr/>
        </p:nvSpPr>
        <p:spPr>
          <a:xfrm>
            <a:off x="860276" y="4365686"/>
            <a:ext cx="342283" cy="338304"/>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Sol 22">
            <a:extLst>
              <a:ext uri="{FF2B5EF4-FFF2-40B4-BE49-F238E27FC236}">
                <a16:creationId xmlns:a16="http://schemas.microsoft.com/office/drawing/2014/main" id="{08011622-3D8B-49B3-B7A2-431C07C81E8A}"/>
              </a:ext>
            </a:extLst>
          </p:cNvPr>
          <p:cNvSpPr/>
          <p:nvPr/>
        </p:nvSpPr>
        <p:spPr>
          <a:xfrm>
            <a:off x="855585" y="4796282"/>
            <a:ext cx="342283" cy="338304"/>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Sol 23">
            <a:extLst>
              <a:ext uri="{FF2B5EF4-FFF2-40B4-BE49-F238E27FC236}">
                <a16:creationId xmlns:a16="http://schemas.microsoft.com/office/drawing/2014/main" id="{B9C27F26-8BB8-4037-97FF-BC586B301A57}"/>
              </a:ext>
            </a:extLst>
          </p:cNvPr>
          <p:cNvSpPr/>
          <p:nvPr/>
        </p:nvSpPr>
        <p:spPr>
          <a:xfrm>
            <a:off x="864785" y="5215356"/>
            <a:ext cx="342283" cy="338304"/>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8969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Concepto de control de versiones</a:t>
            </a:r>
          </a:p>
        </p:txBody>
      </p:sp>
      <p:sp>
        <p:nvSpPr>
          <p:cNvPr id="26" name="CuadroTexto 25">
            <a:extLst>
              <a:ext uri="{FF2B5EF4-FFF2-40B4-BE49-F238E27FC236}">
                <a16:creationId xmlns:a16="http://schemas.microsoft.com/office/drawing/2014/main" id="{0F549653-B4FC-40B3-BFAC-3C2E44B45473}"/>
              </a:ext>
            </a:extLst>
          </p:cNvPr>
          <p:cNvSpPr txBox="1"/>
          <p:nvPr/>
        </p:nvSpPr>
        <p:spPr>
          <a:xfrm>
            <a:off x="765820" y="855876"/>
            <a:ext cx="4104456" cy="400110"/>
          </a:xfrm>
          <a:prstGeom prst="rect">
            <a:avLst/>
          </a:prstGeom>
          <a:noFill/>
        </p:spPr>
        <p:txBody>
          <a:bodyPr wrap="square">
            <a:spAutoFit/>
          </a:bodyPr>
          <a:lstStyle/>
          <a:p>
            <a:r>
              <a:rPr lang="es-MX" sz="2000" b="1" dirty="0">
                <a:solidFill>
                  <a:schemeClr val="accent5"/>
                </a:solidFill>
                <a:latin typeface="Antique Olive" panose="020B0603020204030204"/>
              </a:rPr>
              <a:t>¿Por qué es vital en desarrollo web?</a:t>
            </a:r>
            <a:endParaRPr lang="es-PE" sz="2000" b="1" dirty="0">
              <a:solidFill>
                <a:schemeClr val="accent5"/>
              </a:solidFill>
              <a:latin typeface="Antique Olive" panose="020B0603020204030204"/>
            </a:endParaRPr>
          </a:p>
        </p:txBody>
      </p:sp>
      <p:sp>
        <p:nvSpPr>
          <p:cNvPr id="27" name="CuadroTexto 26">
            <a:extLst>
              <a:ext uri="{FF2B5EF4-FFF2-40B4-BE49-F238E27FC236}">
                <a16:creationId xmlns:a16="http://schemas.microsoft.com/office/drawing/2014/main" id="{3E2E3D1F-3549-474E-AD44-CD714A715D6B}"/>
              </a:ext>
            </a:extLst>
          </p:cNvPr>
          <p:cNvSpPr txBox="1"/>
          <p:nvPr/>
        </p:nvSpPr>
        <p:spPr>
          <a:xfrm>
            <a:off x="837829" y="1255986"/>
            <a:ext cx="3744416" cy="707886"/>
          </a:xfrm>
          <a:prstGeom prst="rect">
            <a:avLst/>
          </a:prstGeom>
          <a:noFill/>
        </p:spPr>
        <p:txBody>
          <a:bodyPr wrap="square">
            <a:spAutoFit/>
          </a:bodyPr>
          <a:lstStyle/>
          <a:p>
            <a:pPr algn="just"/>
            <a:r>
              <a:rPr lang="es-MX" sz="2000" dirty="0">
                <a:latin typeface="Antique Olive" panose="020B0603020204030204"/>
              </a:rPr>
              <a:t>En proyectos web trabajamos constantemente con:</a:t>
            </a:r>
            <a:endParaRPr lang="es-PE" sz="2000" dirty="0">
              <a:latin typeface="Antique Olive" panose="020B0603020204030204"/>
            </a:endParaRPr>
          </a:p>
        </p:txBody>
      </p:sp>
      <p:sp>
        <p:nvSpPr>
          <p:cNvPr id="28" name="CuadroTexto 27">
            <a:extLst>
              <a:ext uri="{FF2B5EF4-FFF2-40B4-BE49-F238E27FC236}">
                <a16:creationId xmlns:a16="http://schemas.microsoft.com/office/drawing/2014/main" id="{94848CC0-A7CD-4F15-B970-1C0F96EAD18C}"/>
              </a:ext>
            </a:extLst>
          </p:cNvPr>
          <p:cNvSpPr txBox="1"/>
          <p:nvPr/>
        </p:nvSpPr>
        <p:spPr>
          <a:xfrm>
            <a:off x="1269876" y="2087433"/>
            <a:ext cx="1440160" cy="400110"/>
          </a:xfrm>
          <a:prstGeom prst="rect">
            <a:avLst/>
          </a:prstGeom>
          <a:noFill/>
        </p:spPr>
        <p:txBody>
          <a:bodyPr wrap="square">
            <a:spAutoFit/>
          </a:bodyPr>
          <a:lstStyle/>
          <a:p>
            <a:r>
              <a:rPr lang="es-PE" sz="2000" dirty="0">
                <a:latin typeface="Antique Olive" panose="020B0603020204030204"/>
              </a:rPr>
              <a:t>index.html</a:t>
            </a:r>
          </a:p>
        </p:txBody>
      </p:sp>
      <p:sp>
        <p:nvSpPr>
          <p:cNvPr id="29" name="CuadroTexto 28">
            <a:extLst>
              <a:ext uri="{FF2B5EF4-FFF2-40B4-BE49-F238E27FC236}">
                <a16:creationId xmlns:a16="http://schemas.microsoft.com/office/drawing/2014/main" id="{2FB0EEFD-8B6B-4F7F-82D9-AC6FA237A08D}"/>
              </a:ext>
            </a:extLst>
          </p:cNvPr>
          <p:cNvSpPr txBox="1"/>
          <p:nvPr/>
        </p:nvSpPr>
        <p:spPr>
          <a:xfrm>
            <a:off x="1269876" y="2483043"/>
            <a:ext cx="2232248"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PE" dirty="0"/>
              <a:t>style.css</a:t>
            </a:r>
          </a:p>
        </p:txBody>
      </p:sp>
      <p:sp>
        <p:nvSpPr>
          <p:cNvPr id="30" name="CuadroTexto 29">
            <a:extLst>
              <a:ext uri="{FF2B5EF4-FFF2-40B4-BE49-F238E27FC236}">
                <a16:creationId xmlns:a16="http://schemas.microsoft.com/office/drawing/2014/main" id="{2E9FB4D6-4FF2-40C0-8B9E-1450F2F369B0}"/>
              </a:ext>
            </a:extLst>
          </p:cNvPr>
          <p:cNvSpPr txBox="1"/>
          <p:nvPr/>
        </p:nvSpPr>
        <p:spPr>
          <a:xfrm>
            <a:off x="1269876" y="2887653"/>
            <a:ext cx="1440160"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PE" dirty="0"/>
              <a:t>app.js</a:t>
            </a:r>
          </a:p>
        </p:txBody>
      </p:sp>
      <p:sp>
        <p:nvSpPr>
          <p:cNvPr id="31" name="CuadroTexto 30">
            <a:extLst>
              <a:ext uri="{FF2B5EF4-FFF2-40B4-BE49-F238E27FC236}">
                <a16:creationId xmlns:a16="http://schemas.microsoft.com/office/drawing/2014/main" id="{9E17B4D9-4FD4-433F-89B7-26BFA53C6EFE}"/>
              </a:ext>
            </a:extLst>
          </p:cNvPr>
          <p:cNvSpPr txBox="1"/>
          <p:nvPr/>
        </p:nvSpPr>
        <p:spPr>
          <a:xfrm>
            <a:off x="1269876" y="3271062"/>
            <a:ext cx="3096344"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PE" dirty="0"/>
              <a:t>componentes React/Vite</a:t>
            </a:r>
          </a:p>
        </p:txBody>
      </p:sp>
      <p:sp>
        <p:nvSpPr>
          <p:cNvPr id="33" name="CuadroTexto 32">
            <a:extLst>
              <a:ext uri="{FF2B5EF4-FFF2-40B4-BE49-F238E27FC236}">
                <a16:creationId xmlns:a16="http://schemas.microsoft.com/office/drawing/2014/main" id="{2E4A798B-68CB-4712-A24E-E7C2E6F8EFB5}"/>
              </a:ext>
            </a:extLst>
          </p:cNvPr>
          <p:cNvSpPr txBox="1"/>
          <p:nvPr/>
        </p:nvSpPr>
        <p:spPr>
          <a:xfrm>
            <a:off x="1269876" y="3657368"/>
            <a:ext cx="2952328"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PE" dirty="0"/>
              <a:t>configuraciones</a:t>
            </a:r>
          </a:p>
        </p:txBody>
      </p:sp>
      <p:sp>
        <p:nvSpPr>
          <p:cNvPr id="35" name="CuadroTexto 34">
            <a:extLst>
              <a:ext uri="{FF2B5EF4-FFF2-40B4-BE49-F238E27FC236}">
                <a16:creationId xmlns:a16="http://schemas.microsoft.com/office/drawing/2014/main" id="{5D0B8911-C552-430C-808B-6868CA8234D0}"/>
              </a:ext>
            </a:extLst>
          </p:cNvPr>
          <p:cNvSpPr txBox="1"/>
          <p:nvPr/>
        </p:nvSpPr>
        <p:spPr>
          <a:xfrm>
            <a:off x="1278487" y="4039174"/>
            <a:ext cx="2952328"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PE" dirty="0" err="1"/>
              <a:t>assets</a:t>
            </a:r>
            <a:endParaRPr lang="es-PE" dirty="0"/>
          </a:p>
        </p:txBody>
      </p:sp>
      <p:pic>
        <p:nvPicPr>
          <p:cNvPr id="37" name="Gráfico 36" descr="Marca de verificación con relleno sólido">
            <a:extLst>
              <a:ext uri="{FF2B5EF4-FFF2-40B4-BE49-F238E27FC236}">
                <a16:creationId xmlns:a16="http://schemas.microsoft.com/office/drawing/2014/main" id="{5CDCEBFE-A71B-4086-8162-E0F3D6E801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684" y="2060848"/>
            <a:ext cx="313184" cy="400110"/>
          </a:xfrm>
          <a:prstGeom prst="rect">
            <a:avLst/>
          </a:prstGeom>
        </p:spPr>
      </p:pic>
      <p:pic>
        <p:nvPicPr>
          <p:cNvPr id="38" name="Gráfico 37" descr="Marca de verificación con relleno sólido">
            <a:extLst>
              <a:ext uri="{FF2B5EF4-FFF2-40B4-BE49-F238E27FC236}">
                <a16:creationId xmlns:a16="http://schemas.microsoft.com/office/drawing/2014/main" id="{DA351A4A-8BE7-45E7-83B3-45AEA85787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684" y="2487543"/>
            <a:ext cx="313184" cy="400110"/>
          </a:xfrm>
          <a:prstGeom prst="rect">
            <a:avLst/>
          </a:prstGeom>
        </p:spPr>
      </p:pic>
      <p:pic>
        <p:nvPicPr>
          <p:cNvPr id="39" name="Gráfico 38" descr="Marca de verificación con relleno sólido">
            <a:extLst>
              <a:ext uri="{FF2B5EF4-FFF2-40B4-BE49-F238E27FC236}">
                <a16:creationId xmlns:a16="http://schemas.microsoft.com/office/drawing/2014/main" id="{FFFB320B-53CA-435C-8011-64217F605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684" y="2908218"/>
            <a:ext cx="313184" cy="400110"/>
          </a:xfrm>
          <a:prstGeom prst="rect">
            <a:avLst/>
          </a:prstGeom>
        </p:spPr>
      </p:pic>
      <p:pic>
        <p:nvPicPr>
          <p:cNvPr id="40" name="Gráfico 39" descr="Marca de verificación con relleno sólido">
            <a:extLst>
              <a:ext uri="{FF2B5EF4-FFF2-40B4-BE49-F238E27FC236}">
                <a16:creationId xmlns:a16="http://schemas.microsoft.com/office/drawing/2014/main" id="{40D2D467-4722-4B94-9431-D462A3377A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6054" y="3328893"/>
            <a:ext cx="313184" cy="400110"/>
          </a:xfrm>
          <a:prstGeom prst="rect">
            <a:avLst/>
          </a:prstGeom>
        </p:spPr>
      </p:pic>
      <p:pic>
        <p:nvPicPr>
          <p:cNvPr id="41" name="Gráfico 40" descr="Marca de verificación con relleno sólido">
            <a:extLst>
              <a:ext uri="{FF2B5EF4-FFF2-40B4-BE49-F238E27FC236}">
                <a16:creationId xmlns:a16="http://schemas.microsoft.com/office/drawing/2014/main" id="{6DB35989-19D6-4C1C-9DCB-C11A8E9340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4684" y="3729003"/>
            <a:ext cx="313184" cy="400110"/>
          </a:xfrm>
          <a:prstGeom prst="rect">
            <a:avLst/>
          </a:prstGeom>
        </p:spPr>
      </p:pic>
      <p:pic>
        <p:nvPicPr>
          <p:cNvPr id="42" name="Gráfico 41" descr="Marca de verificación con relleno sólido">
            <a:extLst>
              <a:ext uri="{FF2B5EF4-FFF2-40B4-BE49-F238E27FC236}">
                <a16:creationId xmlns:a16="http://schemas.microsoft.com/office/drawing/2014/main" id="{9FF06B74-4471-444C-BCBA-EBA74B2856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314" y="4124705"/>
            <a:ext cx="313184" cy="400110"/>
          </a:xfrm>
          <a:prstGeom prst="rect">
            <a:avLst/>
          </a:prstGeom>
        </p:spPr>
      </p:pic>
      <p:sp>
        <p:nvSpPr>
          <p:cNvPr id="19" name="CuadroTexto 18">
            <a:extLst>
              <a:ext uri="{FF2B5EF4-FFF2-40B4-BE49-F238E27FC236}">
                <a16:creationId xmlns:a16="http://schemas.microsoft.com/office/drawing/2014/main" id="{7CA305EE-BEE3-4280-BC1C-5B14CCE65AFB}"/>
              </a:ext>
            </a:extLst>
          </p:cNvPr>
          <p:cNvSpPr txBox="1"/>
          <p:nvPr/>
        </p:nvSpPr>
        <p:spPr>
          <a:xfrm>
            <a:off x="5963000" y="855876"/>
            <a:ext cx="5249678" cy="400110"/>
          </a:xfrm>
          <a:prstGeom prst="rect">
            <a:avLst/>
          </a:prstGeom>
          <a:noFill/>
        </p:spPr>
        <p:txBody>
          <a:bodyPr wrap="square">
            <a:spAutoFit/>
          </a:bodyPr>
          <a:lstStyle>
            <a:defPPr rtl="0">
              <a:defRPr lang="es-ES"/>
            </a:defPPr>
            <a:lvl1pPr>
              <a:defRPr sz="2000" b="1">
                <a:solidFill>
                  <a:schemeClr val="accent5"/>
                </a:solidFill>
                <a:latin typeface="Antique Olive" panose="020B0603020204030204"/>
              </a:defRPr>
            </a:lvl1pPr>
          </a:lstStyle>
          <a:p>
            <a:r>
              <a:rPr lang="es-MX" dirty="0"/>
              <a:t>Los cambios son frecuentes y a veces riesgosos:</a:t>
            </a:r>
            <a:endParaRPr lang="es-PE" dirty="0"/>
          </a:p>
        </p:txBody>
      </p:sp>
      <p:sp>
        <p:nvSpPr>
          <p:cNvPr id="21" name="CuadroTexto 20">
            <a:extLst>
              <a:ext uri="{FF2B5EF4-FFF2-40B4-BE49-F238E27FC236}">
                <a16:creationId xmlns:a16="http://schemas.microsoft.com/office/drawing/2014/main" id="{DD7A0E4A-6F4F-454D-8EF7-F93B7EAFA0F1}"/>
              </a:ext>
            </a:extLst>
          </p:cNvPr>
          <p:cNvSpPr txBox="1"/>
          <p:nvPr/>
        </p:nvSpPr>
        <p:spPr>
          <a:xfrm>
            <a:off x="6251032" y="1330379"/>
            <a:ext cx="4734754"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MX" dirty="0"/>
              <a:t>Una corrección en CSS rompe el responsive.</a:t>
            </a:r>
            <a:endParaRPr lang="es-PE" dirty="0"/>
          </a:p>
        </p:txBody>
      </p:sp>
      <p:sp>
        <p:nvSpPr>
          <p:cNvPr id="23" name="CuadroTexto 22">
            <a:extLst>
              <a:ext uri="{FF2B5EF4-FFF2-40B4-BE49-F238E27FC236}">
                <a16:creationId xmlns:a16="http://schemas.microsoft.com/office/drawing/2014/main" id="{4FD319EB-96D0-48BE-838C-FE800E8E51DD}"/>
              </a:ext>
            </a:extLst>
          </p:cNvPr>
          <p:cNvSpPr txBox="1"/>
          <p:nvPr/>
        </p:nvSpPr>
        <p:spPr>
          <a:xfrm>
            <a:off x="6251032" y="1809910"/>
            <a:ext cx="4734754" cy="400110"/>
          </a:xfrm>
          <a:prstGeom prst="rect">
            <a:avLst/>
          </a:prstGeom>
          <a:noFill/>
        </p:spPr>
        <p:txBody>
          <a:bodyPr wrap="square">
            <a:spAutoFit/>
          </a:bodyPr>
          <a:lstStyle>
            <a:defPPr rtl="0">
              <a:defRPr lang="es-ES"/>
            </a:defPPr>
            <a:lvl1pPr>
              <a:defRPr sz="2000">
                <a:latin typeface="Antique Olive" panose="020B0603020204030204"/>
              </a:defRPr>
            </a:lvl1pPr>
          </a:lstStyle>
          <a:p>
            <a:r>
              <a:rPr lang="es-MX" dirty="0"/>
              <a:t>Una nueva funcionalidad JS genera errores.</a:t>
            </a:r>
            <a:endParaRPr lang="es-PE" dirty="0"/>
          </a:p>
        </p:txBody>
      </p:sp>
      <p:sp>
        <p:nvSpPr>
          <p:cNvPr id="25" name="CuadroTexto 24">
            <a:extLst>
              <a:ext uri="{FF2B5EF4-FFF2-40B4-BE49-F238E27FC236}">
                <a16:creationId xmlns:a16="http://schemas.microsoft.com/office/drawing/2014/main" id="{A2CE0ED1-B0FD-4E1B-A7C5-91E2F1B05691}"/>
              </a:ext>
            </a:extLst>
          </p:cNvPr>
          <p:cNvSpPr txBox="1"/>
          <p:nvPr/>
        </p:nvSpPr>
        <p:spPr>
          <a:xfrm>
            <a:off x="6251032" y="2282988"/>
            <a:ext cx="5460005" cy="400110"/>
          </a:xfrm>
          <a:prstGeom prst="rect">
            <a:avLst/>
          </a:prstGeom>
          <a:noFill/>
        </p:spPr>
        <p:txBody>
          <a:bodyPr wrap="square">
            <a:spAutoFit/>
          </a:bodyPr>
          <a:lstStyle>
            <a:defPPr rtl="0">
              <a:defRPr lang="es-ES"/>
            </a:defPPr>
            <a:lvl1pPr>
              <a:defRPr sz="2000">
                <a:latin typeface="Antique Olive" panose="020B0603020204030204"/>
              </a:defRPr>
            </a:lvl1pPr>
          </a:lstStyle>
          <a:p>
            <a:pPr algn="just"/>
            <a:r>
              <a:rPr lang="es-MX" dirty="0"/>
              <a:t>Una integración de formularios daña otra sección.</a:t>
            </a:r>
            <a:endParaRPr lang="es-PE" dirty="0"/>
          </a:p>
        </p:txBody>
      </p:sp>
      <p:sp>
        <p:nvSpPr>
          <p:cNvPr id="7" name="Flecha: a la derecha 6">
            <a:extLst>
              <a:ext uri="{FF2B5EF4-FFF2-40B4-BE49-F238E27FC236}">
                <a16:creationId xmlns:a16="http://schemas.microsoft.com/office/drawing/2014/main" id="{7FC56882-C008-4FC7-8A3D-753EFC9A7B33}"/>
              </a:ext>
            </a:extLst>
          </p:cNvPr>
          <p:cNvSpPr/>
          <p:nvPr/>
        </p:nvSpPr>
        <p:spPr>
          <a:xfrm>
            <a:off x="6049589" y="1319337"/>
            <a:ext cx="216024" cy="42219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2" name="Flecha: a la derecha 31">
            <a:extLst>
              <a:ext uri="{FF2B5EF4-FFF2-40B4-BE49-F238E27FC236}">
                <a16:creationId xmlns:a16="http://schemas.microsoft.com/office/drawing/2014/main" id="{F50E8093-948F-4F43-83A1-EC02E54EE838}"/>
              </a:ext>
            </a:extLst>
          </p:cNvPr>
          <p:cNvSpPr/>
          <p:nvPr/>
        </p:nvSpPr>
        <p:spPr>
          <a:xfrm>
            <a:off x="6049589" y="1798868"/>
            <a:ext cx="216024" cy="42219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4" name="Flecha: a la derecha 33">
            <a:extLst>
              <a:ext uri="{FF2B5EF4-FFF2-40B4-BE49-F238E27FC236}">
                <a16:creationId xmlns:a16="http://schemas.microsoft.com/office/drawing/2014/main" id="{B12880DF-2FA7-4DBE-A26D-FABD7E47F706}"/>
              </a:ext>
            </a:extLst>
          </p:cNvPr>
          <p:cNvSpPr/>
          <p:nvPr/>
        </p:nvSpPr>
        <p:spPr>
          <a:xfrm>
            <a:off x="6049589" y="2292510"/>
            <a:ext cx="216024" cy="42219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CuadroTexto 35">
            <a:extLst>
              <a:ext uri="{FF2B5EF4-FFF2-40B4-BE49-F238E27FC236}">
                <a16:creationId xmlns:a16="http://schemas.microsoft.com/office/drawing/2014/main" id="{9A0949AC-4ABE-4F1E-9AEE-A7AFB6CF160D}"/>
              </a:ext>
            </a:extLst>
          </p:cNvPr>
          <p:cNvSpPr txBox="1"/>
          <p:nvPr/>
        </p:nvSpPr>
        <p:spPr>
          <a:xfrm>
            <a:off x="5933034" y="2887653"/>
            <a:ext cx="1817562" cy="400110"/>
          </a:xfrm>
          <a:prstGeom prst="rect">
            <a:avLst/>
          </a:prstGeom>
          <a:noFill/>
        </p:spPr>
        <p:txBody>
          <a:bodyPr wrap="square">
            <a:spAutoFit/>
          </a:bodyPr>
          <a:lstStyle>
            <a:defPPr rtl="0">
              <a:defRPr lang="es-ES"/>
            </a:defPPr>
            <a:lvl1pPr>
              <a:defRPr sz="2000" b="1">
                <a:solidFill>
                  <a:schemeClr val="accent5"/>
                </a:solidFill>
                <a:latin typeface="Antique Olive" panose="020B0603020204030204"/>
              </a:defRPr>
            </a:lvl1pPr>
          </a:lstStyle>
          <a:p>
            <a:r>
              <a:rPr lang="es-PE" dirty="0"/>
              <a:t>Git permite:</a:t>
            </a:r>
          </a:p>
        </p:txBody>
      </p:sp>
      <p:sp>
        <p:nvSpPr>
          <p:cNvPr id="43" name="CuadroTexto 42">
            <a:extLst>
              <a:ext uri="{FF2B5EF4-FFF2-40B4-BE49-F238E27FC236}">
                <a16:creationId xmlns:a16="http://schemas.microsoft.com/office/drawing/2014/main" id="{23196527-316F-4544-96EB-4E5BECF7848B}"/>
              </a:ext>
            </a:extLst>
          </p:cNvPr>
          <p:cNvSpPr txBox="1"/>
          <p:nvPr/>
        </p:nvSpPr>
        <p:spPr>
          <a:xfrm>
            <a:off x="6265613" y="3298115"/>
            <a:ext cx="2781127" cy="400110"/>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dirty="0"/>
              <a:t>Trabajar con seguridad.</a:t>
            </a:r>
          </a:p>
        </p:txBody>
      </p:sp>
      <p:sp>
        <p:nvSpPr>
          <p:cNvPr id="45" name="CuadroTexto 44">
            <a:extLst>
              <a:ext uri="{FF2B5EF4-FFF2-40B4-BE49-F238E27FC236}">
                <a16:creationId xmlns:a16="http://schemas.microsoft.com/office/drawing/2014/main" id="{B982ECC9-E554-4824-A0BD-59F29B6220D8}"/>
              </a:ext>
            </a:extLst>
          </p:cNvPr>
          <p:cNvSpPr txBox="1"/>
          <p:nvPr/>
        </p:nvSpPr>
        <p:spPr>
          <a:xfrm>
            <a:off x="6279532" y="3702725"/>
            <a:ext cx="2781127" cy="400110"/>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dirty="0"/>
              <a:t>Probar sin miedo.</a:t>
            </a:r>
          </a:p>
        </p:txBody>
      </p:sp>
      <p:sp>
        <p:nvSpPr>
          <p:cNvPr id="46" name="CuadroTexto 45">
            <a:extLst>
              <a:ext uri="{FF2B5EF4-FFF2-40B4-BE49-F238E27FC236}">
                <a16:creationId xmlns:a16="http://schemas.microsoft.com/office/drawing/2014/main" id="{ED741024-1612-4567-A4DB-CCAF8509826A}"/>
              </a:ext>
            </a:extLst>
          </p:cNvPr>
          <p:cNvSpPr txBox="1"/>
          <p:nvPr/>
        </p:nvSpPr>
        <p:spPr>
          <a:xfrm>
            <a:off x="6265612" y="4124705"/>
            <a:ext cx="3213176" cy="400110"/>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dirty="0"/>
              <a:t>Colaborar ordenadamente.</a:t>
            </a:r>
          </a:p>
        </p:txBody>
      </p:sp>
      <p:sp>
        <p:nvSpPr>
          <p:cNvPr id="47" name="CuadroTexto 46">
            <a:extLst>
              <a:ext uri="{FF2B5EF4-FFF2-40B4-BE49-F238E27FC236}">
                <a16:creationId xmlns:a16="http://schemas.microsoft.com/office/drawing/2014/main" id="{280BCC4B-9A7F-44E5-A512-E8DEC646BD27}"/>
              </a:ext>
            </a:extLst>
          </p:cNvPr>
          <p:cNvSpPr txBox="1"/>
          <p:nvPr/>
        </p:nvSpPr>
        <p:spPr>
          <a:xfrm>
            <a:off x="6251032" y="4566753"/>
            <a:ext cx="3803820" cy="400110"/>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dirty="0"/>
              <a:t>Recuperar versiones estables.</a:t>
            </a:r>
          </a:p>
        </p:txBody>
      </p:sp>
      <p:sp>
        <p:nvSpPr>
          <p:cNvPr id="10" name="Lágrima 9">
            <a:extLst>
              <a:ext uri="{FF2B5EF4-FFF2-40B4-BE49-F238E27FC236}">
                <a16:creationId xmlns:a16="http://schemas.microsoft.com/office/drawing/2014/main" id="{A806AC99-C906-4972-8DEC-D21DE235A133}"/>
              </a:ext>
            </a:extLst>
          </p:cNvPr>
          <p:cNvSpPr/>
          <p:nvPr/>
        </p:nvSpPr>
        <p:spPr>
          <a:xfrm>
            <a:off x="6049589" y="3391203"/>
            <a:ext cx="216024" cy="234831"/>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Lágrima 47">
            <a:extLst>
              <a:ext uri="{FF2B5EF4-FFF2-40B4-BE49-F238E27FC236}">
                <a16:creationId xmlns:a16="http://schemas.microsoft.com/office/drawing/2014/main" id="{BD4860E4-1DB6-4EBD-9D8A-91CB482FBF56}"/>
              </a:ext>
            </a:extLst>
          </p:cNvPr>
          <p:cNvSpPr/>
          <p:nvPr/>
        </p:nvSpPr>
        <p:spPr>
          <a:xfrm>
            <a:off x="6049589" y="3800448"/>
            <a:ext cx="216024" cy="234831"/>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9" name="Lágrima 48">
            <a:extLst>
              <a:ext uri="{FF2B5EF4-FFF2-40B4-BE49-F238E27FC236}">
                <a16:creationId xmlns:a16="http://schemas.microsoft.com/office/drawing/2014/main" id="{81386FE7-06AA-45E7-8622-15C6EA214679}"/>
              </a:ext>
            </a:extLst>
          </p:cNvPr>
          <p:cNvSpPr/>
          <p:nvPr/>
        </p:nvSpPr>
        <p:spPr>
          <a:xfrm>
            <a:off x="6063508" y="4223732"/>
            <a:ext cx="216024" cy="234831"/>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0" name="Lágrima 49">
            <a:extLst>
              <a:ext uri="{FF2B5EF4-FFF2-40B4-BE49-F238E27FC236}">
                <a16:creationId xmlns:a16="http://schemas.microsoft.com/office/drawing/2014/main" id="{306131FF-6977-4ECE-A71D-E15CC288A804}"/>
              </a:ext>
            </a:extLst>
          </p:cNvPr>
          <p:cNvSpPr/>
          <p:nvPr/>
        </p:nvSpPr>
        <p:spPr>
          <a:xfrm>
            <a:off x="6049816" y="4684599"/>
            <a:ext cx="216024" cy="234831"/>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05910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barn(inVertical)">
                                      <p:cBhvr>
                                        <p:cTn id="17" dur="500"/>
                                        <p:tgtEl>
                                          <p:spTgt spid="38"/>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barn(inVertical)">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circle(in)">
                                      <p:cBhvr>
                                        <p:cTn id="25" dur="2000"/>
                                        <p:tgtEl>
                                          <p:spTgt spid="39"/>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circle(in)">
                                      <p:cBhvr>
                                        <p:cTn id="28" dur="20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0"/>
                                        </p:tgtEl>
                                        <p:attrNameLst>
                                          <p:attrName>style.visibility</p:attrName>
                                        </p:attrNameLst>
                                      </p:cBhvr>
                                      <p:to>
                                        <p:strVal val="visible"/>
                                      </p:to>
                                    </p:set>
                                    <p:anim calcmode="lin" valueType="num">
                                      <p:cBhvr additive="base">
                                        <p:cTn id="33" dur="500" fill="hold"/>
                                        <p:tgtEl>
                                          <p:spTgt spid="40"/>
                                        </p:tgtEl>
                                        <p:attrNameLst>
                                          <p:attrName>ppt_x</p:attrName>
                                        </p:attrNameLst>
                                      </p:cBhvr>
                                      <p:tavLst>
                                        <p:tav tm="0">
                                          <p:val>
                                            <p:strVal val="#ppt_x"/>
                                          </p:val>
                                        </p:tav>
                                        <p:tav tm="100000">
                                          <p:val>
                                            <p:strVal val="#ppt_x"/>
                                          </p:val>
                                        </p:tav>
                                      </p:tavLst>
                                    </p:anim>
                                    <p:anim calcmode="lin" valueType="num">
                                      <p:cBhvr additive="base">
                                        <p:cTn id="34" dur="500" fill="hold"/>
                                        <p:tgtEl>
                                          <p:spTgt spid="4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barn(inVertical)">
                                      <p:cBhvr>
                                        <p:cTn id="51" dur="500"/>
                                        <p:tgtEl>
                                          <p:spTgt spid="42"/>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barn(inVertical)">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heel(1)">
                                      <p:cBhvr>
                                        <p:cTn id="65" dur="2000"/>
                                        <p:tgtEl>
                                          <p:spTgt spid="7"/>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heel(1)">
                                      <p:cBhvr>
                                        <p:cTn id="68" dur="20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500" fill="hold"/>
                                        <p:tgtEl>
                                          <p:spTgt spid="32"/>
                                        </p:tgtEl>
                                        <p:attrNameLst>
                                          <p:attrName>ppt_x</p:attrName>
                                        </p:attrNameLst>
                                      </p:cBhvr>
                                      <p:tavLst>
                                        <p:tav tm="0">
                                          <p:val>
                                            <p:strVal val="#ppt_x"/>
                                          </p:val>
                                        </p:tav>
                                        <p:tav tm="100000">
                                          <p:val>
                                            <p:strVal val="#ppt_x"/>
                                          </p:val>
                                        </p:tav>
                                      </p:tavLst>
                                    </p:anim>
                                    <p:anim calcmode="lin" valueType="num">
                                      <p:cBhvr additive="base">
                                        <p:cTn id="74" dur="500" fill="hold"/>
                                        <p:tgtEl>
                                          <p:spTgt spid="32"/>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4" presetClass="entr" presetSubtype="1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randombar(horizontal)">
                                      <p:cBhvr>
                                        <p:cTn id="83" dur="500"/>
                                        <p:tgtEl>
                                          <p:spTgt spid="34"/>
                                        </p:tgtEl>
                                      </p:cBhvr>
                                    </p:animEffect>
                                  </p:childTnLst>
                                </p:cTn>
                              </p:par>
                              <p:par>
                                <p:cTn id="84" presetID="14" presetClass="entr" presetSubtype="1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randombar(horizontal)">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barn(inVertical)">
                                      <p:cBhvr>
                                        <p:cTn id="91" dur="500"/>
                                        <p:tgtEl>
                                          <p:spTgt spid="3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wipe(down)">
                                      <p:cBhvr>
                                        <p:cTn id="96" dur="500"/>
                                        <p:tgtEl>
                                          <p:spTgt spid="10"/>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wipe(down)">
                                      <p:cBhvr>
                                        <p:cTn id="99" dur="500"/>
                                        <p:tgtEl>
                                          <p:spTgt spid="43"/>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8"/>
                                        </p:tgtEl>
                                        <p:attrNameLst>
                                          <p:attrName>style.visibility</p:attrName>
                                        </p:attrNameLst>
                                      </p:cBhvr>
                                      <p:to>
                                        <p:strVal val="visible"/>
                                      </p:to>
                                    </p:set>
                                    <p:animEffect transition="in" filter="fade">
                                      <p:cBhvr>
                                        <p:cTn id="104" dur="500"/>
                                        <p:tgtEl>
                                          <p:spTgt spid="4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grpId="0" nodeType="clickEffect">
                                  <p:stCondLst>
                                    <p:cond delay="0"/>
                                  </p:stCondLst>
                                  <p:childTnLst>
                                    <p:set>
                                      <p:cBhvr>
                                        <p:cTn id="111" dur="1" fill="hold">
                                          <p:stCondLst>
                                            <p:cond delay="0"/>
                                          </p:stCondLst>
                                        </p:cTn>
                                        <p:tgtEl>
                                          <p:spTgt spid="49"/>
                                        </p:tgtEl>
                                        <p:attrNameLst>
                                          <p:attrName>style.visibility</p:attrName>
                                        </p:attrNameLst>
                                      </p:cBhvr>
                                      <p:to>
                                        <p:strVal val="visible"/>
                                      </p:to>
                                    </p:set>
                                    <p:anim calcmode="lin" valueType="num">
                                      <p:cBhvr additive="base">
                                        <p:cTn id="112" dur="500" fill="hold"/>
                                        <p:tgtEl>
                                          <p:spTgt spid="49"/>
                                        </p:tgtEl>
                                        <p:attrNameLst>
                                          <p:attrName>ppt_x</p:attrName>
                                        </p:attrNameLst>
                                      </p:cBhvr>
                                      <p:tavLst>
                                        <p:tav tm="0">
                                          <p:val>
                                            <p:strVal val="#ppt_x"/>
                                          </p:val>
                                        </p:tav>
                                        <p:tav tm="100000">
                                          <p:val>
                                            <p:strVal val="#ppt_x"/>
                                          </p:val>
                                        </p:tav>
                                      </p:tavLst>
                                    </p:anim>
                                    <p:anim calcmode="lin" valueType="num">
                                      <p:cBhvr additive="base">
                                        <p:cTn id="113" dur="500" fill="hold"/>
                                        <p:tgtEl>
                                          <p:spTgt spid="49"/>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 calcmode="lin" valueType="num">
                                      <p:cBhvr additive="base">
                                        <p:cTn id="116" dur="500" fill="hold"/>
                                        <p:tgtEl>
                                          <p:spTgt spid="46"/>
                                        </p:tgtEl>
                                        <p:attrNameLst>
                                          <p:attrName>ppt_x</p:attrName>
                                        </p:attrNameLst>
                                      </p:cBhvr>
                                      <p:tavLst>
                                        <p:tav tm="0">
                                          <p:val>
                                            <p:strVal val="#ppt_x"/>
                                          </p:val>
                                        </p:tav>
                                        <p:tav tm="100000">
                                          <p:val>
                                            <p:strVal val="#ppt_x"/>
                                          </p:val>
                                        </p:tav>
                                      </p:tavLst>
                                    </p:anim>
                                    <p:anim calcmode="lin" valueType="num">
                                      <p:cBhvr additive="base">
                                        <p:cTn id="117"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16" presetClass="entr" presetSubtype="21" fill="hold" grpId="0" nodeType="click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barn(inVertical)">
                                      <p:cBhvr>
                                        <p:cTn id="122" dur="500"/>
                                        <p:tgtEl>
                                          <p:spTgt spid="50"/>
                                        </p:tgtEl>
                                      </p:cBhvr>
                                    </p:animEffect>
                                  </p:childTnLst>
                                </p:cTn>
                              </p:par>
                              <p:par>
                                <p:cTn id="123" presetID="16" presetClass="entr" presetSubtype="21"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barn(inVertical)">
                                      <p:cBhvr>
                                        <p:cTn id="1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3" grpId="0"/>
      <p:bldP spid="35" grpId="0"/>
      <p:bldP spid="19" grpId="0"/>
      <p:bldP spid="21" grpId="0"/>
      <p:bldP spid="23" grpId="0"/>
      <p:bldP spid="25" grpId="0"/>
      <p:bldP spid="7" grpId="0" animBg="1"/>
      <p:bldP spid="32" grpId="0" animBg="1"/>
      <p:bldP spid="34" grpId="0" animBg="1"/>
      <p:bldP spid="36" grpId="0"/>
      <p:bldP spid="43" grpId="0"/>
      <p:bldP spid="45" grpId="0"/>
      <p:bldP spid="46" grpId="0"/>
      <p:bldP spid="47" grpId="0"/>
      <p:bldP spid="10" grpId="0" animBg="1"/>
      <p:bldP spid="48" grpId="0" animBg="1"/>
      <p:bldP spid="49" grpId="0" animBg="1"/>
      <p:bldP spid="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Concepto de control de versiones</a:t>
            </a:r>
          </a:p>
        </p:txBody>
      </p:sp>
      <p:sp>
        <p:nvSpPr>
          <p:cNvPr id="26" name="CuadroTexto 25">
            <a:extLst>
              <a:ext uri="{FF2B5EF4-FFF2-40B4-BE49-F238E27FC236}">
                <a16:creationId xmlns:a16="http://schemas.microsoft.com/office/drawing/2014/main" id="{0F549653-B4FC-40B3-BFAC-3C2E44B45473}"/>
              </a:ext>
            </a:extLst>
          </p:cNvPr>
          <p:cNvSpPr txBox="1"/>
          <p:nvPr/>
        </p:nvSpPr>
        <p:spPr>
          <a:xfrm>
            <a:off x="621804" y="896979"/>
            <a:ext cx="6096000" cy="400110"/>
          </a:xfrm>
          <a:prstGeom prst="rect">
            <a:avLst/>
          </a:prstGeom>
          <a:noFill/>
        </p:spPr>
        <p:txBody>
          <a:bodyPr wrap="square">
            <a:spAutoFit/>
          </a:bodyPr>
          <a:lstStyle/>
          <a:p>
            <a:r>
              <a:rPr lang="es-MX" sz="2000" b="1" dirty="0">
                <a:solidFill>
                  <a:schemeClr val="accent5"/>
                </a:solidFill>
                <a:latin typeface="Antique Olive" panose="020B0603020204030204"/>
              </a:rPr>
              <a:t>Tipos de control de versiones</a:t>
            </a:r>
            <a:endParaRPr lang="es-PE" sz="2000" b="1" dirty="0">
              <a:solidFill>
                <a:schemeClr val="accent5"/>
              </a:solidFill>
              <a:latin typeface="Antique Olive" panose="020B0603020204030204"/>
            </a:endParaRPr>
          </a:p>
        </p:txBody>
      </p:sp>
      <p:pic>
        <p:nvPicPr>
          <p:cNvPr id="44" name="Imagen 43">
            <a:extLst>
              <a:ext uri="{FF2B5EF4-FFF2-40B4-BE49-F238E27FC236}">
                <a16:creationId xmlns:a16="http://schemas.microsoft.com/office/drawing/2014/main" id="{BC9CBDED-F879-476D-8D07-5A05CD22C8B5}"/>
              </a:ext>
            </a:extLst>
          </p:cNvPr>
          <p:cNvPicPr>
            <a:picLocks noChangeAspect="1"/>
          </p:cNvPicPr>
          <p:nvPr/>
        </p:nvPicPr>
        <p:blipFill rotWithShape="1">
          <a:blip r:embed="rId3"/>
          <a:srcRect b="24072"/>
          <a:stretch/>
        </p:blipFill>
        <p:spPr>
          <a:xfrm rot="16200000">
            <a:off x="7377277" y="2074127"/>
            <a:ext cx="5487166" cy="2148241"/>
          </a:xfrm>
          <a:prstGeom prst="rect">
            <a:avLst/>
          </a:prstGeom>
        </p:spPr>
      </p:pic>
      <p:sp>
        <p:nvSpPr>
          <p:cNvPr id="46" name="CuadroTexto 45">
            <a:extLst>
              <a:ext uri="{FF2B5EF4-FFF2-40B4-BE49-F238E27FC236}">
                <a16:creationId xmlns:a16="http://schemas.microsoft.com/office/drawing/2014/main" id="{5F47A9A0-1D73-4823-92FC-8272E58921E9}"/>
              </a:ext>
            </a:extLst>
          </p:cNvPr>
          <p:cNvSpPr txBox="1"/>
          <p:nvPr/>
        </p:nvSpPr>
        <p:spPr>
          <a:xfrm>
            <a:off x="1019695" y="1411634"/>
            <a:ext cx="6096000" cy="400110"/>
          </a:xfrm>
          <a:prstGeom prst="rect">
            <a:avLst/>
          </a:prstGeom>
          <a:noFill/>
        </p:spPr>
        <p:txBody>
          <a:bodyPr wrap="square">
            <a:spAutoFit/>
          </a:bodyPr>
          <a:lstStyle/>
          <a:p>
            <a:r>
              <a:rPr lang="es-MX" sz="2000" dirty="0">
                <a:latin typeface="Antique Olive" panose="020B0603020204030204"/>
              </a:rPr>
              <a:t>Local: historial solo en tu máquina.</a:t>
            </a:r>
            <a:endParaRPr lang="es-PE" sz="2000" dirty="0">
              <a:latin typeface="Antique Olive" panose="020B0603020204030204"/>
            </a:endParaRPr>
          </a:p>
        </p:txBody>
      </p:sp>
      <p:sp>
        <p:nvSpPr>
          <p:cNvPr id="48" name="CuadroTexto 47">
            <a:extLst>
              <a:ext uri="{FF2B5EF4-FFF2-40B4-BE49-F238E27FC236}">
                <a16:creationId xmlns:a16="http://schemas.microsoft.com/office/drawing/2014/main" id="{82F983FB-256A-4710-9718-34689C7BEFED}"/>
              </a:ext>
            </a:extLst>
          </p:cNvPr>
          <p:cNvSpPr txBox="1"/>
          <p:nvPr/>
        </p:nvSpPr>
        <p:spPr>
          <a:xfrm>
            <a:off x="1008235" y="1905837"/>
            <a:ext cx="6096000" cy="400110"/>
          </a:xfrm>
          <a:prstGeom prst="rect">
            <a:avLst/>
          </a:prstGeom>
          <a:noFill/>
        </p:spPr>
        <p:txBody>
          <a:bodyPr wrap="square">
            <a:spAutoFit/>
          </a:bodyPr>
          <a:lstStyle/>
          <a:p>
            <a:r>
              <a:rPr lang="es-PE" sz="2000" dirty="0">
                <a:latin typeface="Antique Olive" panose="020B0603020204030204"/>
              </a:rPr>
              <a:t>Centralizado: servidor central.</a:t>
            </a:r>
          </a:p>
        </p:txBody>
      </p:sp>
      <p:sp>
        <p:nvSpPr>
          <p:cNvPr id="50" name="CuadroTexto 49">
            <a:extLst>
              <a:ext uri="{FF2B5EF4-FFF2-40B4-BE49-F238E27FC236}">
                <a16:creationId xmlns:a16="http://schemas.microsoft.com/office/drawing/2014/main" id="{36469AA0-32E8-4F0D-B687-329AFA9EA31D}"/>
              </a:ext>
            </a:extLst>
          </p:cNvPr>
          <p:cNvSpPr txBox="1"/>
          <p:nvPr/>
        </p:nvSpPr>
        <p:spPr>
          <a:xfrm>
            <a:off x="1019694" y="2397010"/>
            <a:ext cx="6946925" cy="707886"/>
          </a:xfrm>
          <a:prstGeom prst="rect">
            <a:avLst/>
          </a:prstGeom>
          <a:noFill/>
        </p:spPr>
        <p:txBody>
          <a:bodyPr wrap="square">
            <a:spAutoFit/>
          </a:bodyPr>
          <a:lstStyle/>
          <a:p>
            <a:pPr algn="just"/>
            <a:r>
              <a:rPr lang="es-MX" sz="2000" dirty="0">
                <a:latin typeface="Antique Olive" panose="020B0603020204030204"/>
              </a:rPr>
              <a:t>Distribuido: cada desarrollador tiene una copia completa del historial.</a:t>
            </a:r>
            <a:endParaRPr lang="es-PE" sz="2000" dirty="0">
              <a:latin typeface="Antique Olive" panose="020B0603020204030204"/>
            </a:endParaRPr>
          </a:p>
        </p:txBody>
      </p:sp>
      <p:sp>
        <p:nvSpPr>
          <p:cNvPr id="51" name="Flecha: cheurón 50">
            <a:extLst>
              <a:ext uri="{FF2B5EF4-FFF2-40B4-BE49-F238E27FC236}">
                <a16:creationId xmlns:a16="http://schemas.microsoft.com/office/drawing/2014/main" id="{36599BF2-11AA-4DDB-927A-60FC1F028779}"/>
              </a:ext>
            </a:extLst>
          </p:cNvPr>
          <p:cNvSpPr/>
          <p:nvPr/>
        </p:nvSpPr>
        <p:spPr>
          <a:xfrm>
            <a:off x="719662" y="1452737"/>
            <a:ext cx="300032" cy="29442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52" name="Flecha: cheurón 51">
            <a:extLst>
              <a:ext uri="{FF2B5EF4-FFF2-40B4-BE49-F238E27FC236}">
                <a16:creationId xmlns:a16="http://schemas.microsoft.com/office/drawing/2014/main" id="{26690309-81B8-48A8-90B1-656C42A34DD4}"/>
              </a:ext>
            </a:extLst>
          </p:cNvPr>
          <p:cNvSpPr/>
          <p:nvPr/>
        </p:nvSpPr>
        <p:spPr>
          <a:xfrm>
            <a:off x="708203" y="1958681"/>
            <a:ext cx="300032" cy="29442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53" name="Flecha: cheurón 52">
            <a:extLst>
              <a:ext uri="{FF2B5EF4-FFF2-40B4-BE49-F238E27FC236}">
                <a16:creationId xmlns:a16="http://schemas.microsoft.com/office/drawing/2014/main" id="{88DC2FCA-2BFF-4180-82C3-11548D75DDB4}"/>
              </a:ext>
            </a:extLst>
          </p:cNvPr>
          <p:cNvSpPr/>
          <p:nvPr/>
        </p:nvSpPr>
        <p:spPr>
          <a:xfrm>
            <a:off x="719662" y="2517469"/>
            <a:ext cx="300032" cy="29442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55" name="CuadroTexto 54">
            <a:extLst>
              <a:ext uri="{FF2B5EF4-FFF2-40B4-BE49-F238E27FC236}">
                <a16:creationId xmlns:a16="http://schemas.microsoft.com/office/drawing/2014/main" id="{2C5A3F88-DD09-4BBD-AD0E-925C526321E2}"/>
              </a:ext>
            </a:extLst>
          </p:cNvPr>
          <p:cNvSpPr txBox="1"/>
          <p:nvPr/>
        </p:nvSpPr>
        <p:spPr>
          <a:xfrm>
            <a:off x="621804" y="3429000"/>
            <a:ext cx="7704856" cy="1754326"/>
          </a:xfrm>
          <a:prstGeom prst="rect">
            <a:avLst/>
          </a:prstGeom>
          <a:noFill/>
        </p:spPr>
        <p:txBody>
          <a:bodyPr wrap="square">
            <a:spAutoFit/>
          </a:bodyPr>
          <a:lstStyle/>
          <a:p>
            <a:pPr algn="just"/>
            <a:r>
              <a:rPr lang="es-MX" sz="1800" dirty="0">
                <a:latin typeface="Antique Olive" panose="020B0603020204030204"/>
              </a:rPr>
              <a:t>Los sistemas de control de versiones son un componente central del desarrollo de software contemporáneo, ya que permiten gestionar revisiones secuenciales y variantes concurrentes (por ejemplo, mediante ramas), facilitando la evolución y mantenimiento del software (Berger et al. 2021). Asimismo, los flujos de trabajo basados en Git son ampliamente adoptados por su flexibilidad y robustez en colaboración (</a:t>
            </a:r>
            <a:r>
              <a:rPr lang="es-MX" sz="1800" dirty="0" err="1">
                <a:latin typeface="Antique Olive" panose="020B0603020204030204"/>
              </a:rPr>
              <a:t>Khelladi</a:t>
            </a:r>
            <a:r>
              <a:rPr lang="es-MX" sz="1800" dirty="0">
                <a:latin typeface="Antique Olive" panose="020B0603020204030204"/>
              </a:rPr>
              <a:t> et al. 2021).</a:t>
            </a:r>
            <a:endParaRPr lang="es-PE" sz="1800" dirty="0">
              <a:latin typeface="Antique Olive" panose="020B0603020204030204"/>
            </a:endParaRPr>
          </a:p>
        </p:txBody>
      </p:sp>
    </p:spTree>
    <p:extLst>
      <p:ext uri="{BB962C8B-B14F-4D97-AF65-F5344CB8AC3E}">
        <p14:creationId xmlns:p14="http://schemas.microsoft.com/office/powerpoint/2010/main" val="227539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4" name="Imagen 3">
            <a:extLst>
              <a:ext uri="{FF2B5EF4-FFF2-40B4-BE49-F238E27FC236}">
                <a16:creationId xmlns:a16="http://schemas.microsoft.com/office/drawing/2014/main" id="{3164542F-B275-4936-A8A3-D1FCAB6E5A3D}"/>
              </a:ext>
            </a:extLst>
          </p:cNvPr>
          <p:cNvPicPr>
            <a:picLocks noChangeAspect="1"/>
          </p:cNvPicPr>
          <p:nvPr/>
        </p:nvPicPr>
        <p:blipFill rotWithShape="1">
          <a:blip r:embed="rId3"/>
          <a:srcRect r="20879"/>
          <a:stretch/>
        </p:blipFill>
        <p:spPr>
          <a:xfrm>
            <a:off x="477789" y="1556792"/>
            <a:ext cx="4536503" cy="2520280"/>
          </a:xfrm>
          <a:prstGeom prst="rect">
            <a:avLst/>
          </a:prstGeom>
        </p:spPr>
      </p:pic>
      <p:sp>
        <p:nvSpPr>
          <p:cNvPr id="5" name="Rectángulo: esquinas redondeadas 4">
            <a:extLst>
              <a:ext uri="{FF2B5EF4-FFF2-40B4-BE49-F238E27FC236}">
                <a16:creationId xmlns:a16="http://schemas.microsoft.com/office/drawing/2014/main" id="{79C3D944-C34D-4268-9DF8-F34D4364EF5F}"/>
              </a:ext>
            </a:extLst>
          </p:cNvPr>
          <p:cNvSpPr/>
          <p:nvPr/>
        </p:nvSpPr>
        <p:spPr>
          <a:xfrm>
            <a:off x="2205980" y="2636912"/>
            <a:ext cx="648072" cy="36004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CuadroTexto 17">
            <a:extLst>
              <a:ext uri="{FF2B5EF4-FFF2-40B4-BE49-F238E27FC236}">
                <a16:creationId xmlns:a16="http://schemas.microsoft.com/office/drawing/2014/main" id="{6B0F7D4F-7B4F-4454-8260-EAB1B5051712}"/>
              </a:ext>
            </a:extLst>
          </p:cNvPr>
          <p:cNvSpPr txBox="1"/>
          <p:nvPr/>
        </p:nvSpPr>
        <p:spPr>
          <a:xfrm>
            <a:off x="477788" y="927148"/>
            <a:ext cx="6096000" cy="461665"/>
          </a:xfrm>
          <a:prstGeom prst="rect">
            <a:avLst/>
          </a:prstGeom>
          <a:noFill/>
        </p:spPr>
        <p:txBody>
          <a:bodyPr wrap="square">
            <a:spAutoFit/>
          </a:bodyPr>
          <a:lstStyle/>
          <a:p>
            <a:r>
              <a:rPr lang="es-PE" b="1" dirty="0">
                <a:latin typeface="Antique Olive" panose="020B0603020204030204"/>
              </a:rPr>
              <a:t>https://git-scm.com/install/</a:t>
            </a:r>
          </a:p>
        </p:txBody>
      </p:sp>
      <p:pic>
        <p:nvPicPr>
          <p:cNvPr id="9" name="Imagen 8">
            <a:extLst>
              <a:ext uri="{FF2B5EF4-FFF2-40B4-BE49-F238E27FC236}">
                <a16:creationId xmlns:a16="http://schemas.microsoft.com/office/drawing/2014/main" id="{4086326F-5DBC-42C7-B1D0-4E6CEFC5637E}"/>
              </a:ext>
            </a:extLst>
          </p:cNvPr>
          <p:cNvPicPr>
            <a:picLocks noChangeAspect="1"/>
          </p:cNvPicPr>
          <p:nvPr/>
        </p:nvPicPr>
        <p:blipFill>
          <a:blip r:embed="rId4"/>
          <a:stretch>
            <a:fillRect/>
          </a:stretch>
        </p:blipFill>
        <p:spPr>
          <a:xfrm>
            <a:off x="6560368" y="1392715"/>
            <a:ext cx="5457154" cy="4601780"/>
          </a:xfrm>
          <a:prstGeom prst="rect">
            <a:avLst/>
          </a:prstGeom>
        </p:spPr>
      </p:pic>
      <p:sp>
        <p:nvSpPr>
          <p:cNvPr id="10" name="Rectángulo: esquinas redondeadas 9">
            <a:extLst>
              <a:ext uri="{FF2B5EF4-FFF2-40B4-BE49-F238E27FC236}">
                <a16:creationId xmlns:a16="http://schemas.microsoft.com/office/drawing/2014/main" id="{C43B4A29-02B2-4637-AC74-67F6FB5F4F65}"/>
              </a:ext>
            </a:extLst>
          </p:cNvPr>
          <p:cNvSpPr/>
          <p:nvPr/>
        </p:nvSpPr>
        <p:spPr>
          <a:xfrm>
            <a:off x="6814492" y="2564904"/>
            <a:ext cx="1440160" cy="21602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CuadroTexto 23">
            <a:extLst>
              <a:ext uri="{FF2B5EF4-FFF2-40B4-BE49-F238E27FC236}">
                <a16:creationId xmlns:a16="http://schemas.microsoft.com/office/drawing/2014/main" id="{31A3B9E2-D6C1-417F-89A2-FB1D2D713B61}"/>
              </a:ext>
            </a:extLst>
          </p:cNvPr>
          <p:cNvSpPr txBox="1"/>
          <p:nvPr/>
        </p:nvSpPr>
        <p:spPr>
          <a:xfrm>
            <a:off x="464368" y="4613911"/>
            <a:ext cx="4837956" cy="461665"/>
          </a:xfrm>
          <a:prstGeom prst="rect">
            <a:avLst/>
          </a:prstGeom>
          <a:noFill/>
        </p:spPr>
        <p:txBody>
          <a:bodyPr wrap="square">
            <a:spAutoFit/>
          </a:bodyPr>
          <a:lstStyle/>
          <a:p>
            <a:r>
              <a:rPr lang="es-PE" b="1" dirty="0">
                <a:latin typeface="Antique Olive" panose="020B0603020204030204"/>
              </a:rPr>
              <a:t>Dar doble clic en el exe descargado.</a:t>
            </a:r>
          </a:p>
        </p:txBody>
      </p:sp>
    </p:spTree>
    <p:extLst>
      <p:ext uri="{BB962C8B-B14F-4D97-AF65-F5344CB8AC3E}">
        <p14:creationId xmlns:p14="http://schemas.microsoft.com/office/powerpoint/2010/main" val="1181863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3" name="Imagen 2">
            <a:extLst>
              <a:ext uri="{FF2B5EF4-FFF2-40B4-BE49-F238E27FC236}">
                <a16:creationId xmlns:a16="http://schemas.microsoft.com/office/drawing/2014/main" id="{1E50B5C6-E726-4408-BE84-202CFBFF005A}"/>
              </a:ext>
            </a:extLst>
          </p:cNvPr>
          <p:cNvPicPr>
            <a:picLocks noChangeAspect="1"/>
          </p:cNvPicPr>
          <p:nvPr/>
        </p:nvPicPr>
        <p:blipFill>
          <a:blip r:embed="rId3"/>
          <a:stretch>
            <a:fillRect/>
          </a:stretch>
        </p:blipFill>
        <p:spPr>
          <a:xfrm>
            <a:off x="117748" y="1088740"/>
            <a:ext cx="5400600" cy="4680520"/>
          </a:xfrm>
          <a:prstGeom prst="rect">
            <a:avLst/>
          </a:prstGeom>
        </p:spPr>
      </p:pic>
      <p:pic>
        <p:nvPicPr>
          <p:cNvPr id="8" name="Imagen 7">
            <a:extLst>
              <a:ext uri="{FF2B5EF4-FFF2-40B4-BE49-F238E27FC236}">
                <a16:creationId xmlns:a16="http://schemas.microsoft.com/office/drawing/2014/main" id="{82C3432F-C3A6-4A38-857C-234B4E5B4B5D}"/>
              </a:ext>
            </a:extLst>
          </p:cNvPr>
          <p:cNvPicPr>
            <a:picLocks noChangeAspect="1"/>
          </p:cNvPicPr>
          <p:nvPr/>
        </p:nvPicPr>
        <p:blipFill>
          <a:blip r:embed="rId4"/>
          <a:stretch>
            <a:fillRect/>
          </a:stretch>
        </p:blipFill>
        <p:spPr>
          <a:xfrm>
            <a:off x="5950396" y="1088741"/>
            <a:ext cx="5935926" cy="4680520"/>
          </a:xfrm>
          <a:prstGeom prst="rect">
            <a:avLst/>
          </a:prstGeom>
        </p:spPr>
      </p:pic>
    </p:spTree>
    <p:extLst>
      <p:ext uri="{BB962C8B-B14F-4D97-AF65-F5344CB8AC3E}">
        <p14:creationId xmlns:p14="http://schemas.microsoft.com/office/powerpoint/2010/main" val="2435088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4" name="Imagen 3">
            <a:extLst>
              <a:ext uri="{FF2B5EF4-FFF2-40B4-BE49-F238E27FC236}">
                <a16:creationId xmlns:a16="http://schemas.microsoft.com/office/drawing/2014/main" id="{39CA7CB6-AF69-428B-A43F-3701A45DCFAF}"/>
              </a:ext>
            </a:extLst>
          </p:cNvPr>
          <p:cNvPicPr>
            <a:picLocks noChangeAspect="1"/>
          </p:cNvPicPr>
          <p:nvPr/>
        </p:nvPicPr>
        <p:blipFill rotWithShape="1">
          <a:blip r:embed="rId3"/>
          <a:srcRect t="1363"/>
          <a:stretch/>
        </p:blipFill>
        <p:spPr>
          <a:xfrm>
            <a:off x="117748" y="1201771"/>
            <a:ext cx="5688632" cy="4579053"/>
          </a:xfrm>
          <a:prstGeom prst="rect">
            <a:avLst/>
          </a:prstGeom>
        </p:spPr>
      </p:pic>
      <p:pic>
        <p:nvPicPr>
          <p:cNvPr id="7" name="Imagen 6">
            <a:extLst>
              <a:ext uri="{FF2B5EF4-FFF2-40B4-BE49-F238E27FC236}">
                <a16:creationId xmlns:a16="http://schemas.microsoft.com/office/drawing/2014/main" id="{2406A82D-9A01-468D-83EC-E03BABD46EAE}"/>
              </a:ext>
            </a:extLst>
          </p:cNvPr>
          <p:cNvPicPr>
            <a:picLocks noChangeAspect="1"/>
          </p:cNvPicPr>
          <p:nvPr/>
        </p:nvPicPr>
        <p:blipFill>
          <a:blip r:embed="rId4"/>
          <a:stretch>
            <a:fillRect/>
          </a:stretch>
        </p:blipFill>
        <p:spPr>
          <a:xfrm>
            <a:off x="5950396" y="1214347"/>
            <a:ext cx="6085668" cy="4566477"/>
          </a:xfrm>
          <a:prstGeom prst="rect">
            <a:avLst/>
          </a:prstGeom>
        </p:spPr>
      </p:pic>
    </p:spTree>
    <p:extLst>
      <p:ext uri="{BB962C8B-B14F-4D97-AF65-F5344CB8AC3E}">
        <p14:creationId xmlns:p14="http://schemas.microsoft.com/office/powerpoint/2010/main" val="281497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3" name="Imagen 2">
            <a:extLst>
              <a:ext uri="{FF2B5EF4-FFF2-40B4-BE49-F238E27FC236}">
                <a16:creationId xmlns:a16="http://schemas.microsoft.com/office/drawing/2014/main" id="{A99D1697-137F-4AA2-90F8-719865F653BD}"/>
              </a:ext>
            </a:extLst>
          </p:cNvPr>
          <p:cNvPicPr>
            <a:picLocks noChangeAspect="1"/>
          </p:cNvPicPr>
          <p:nvPr/>
        </p:nvPicPr>
        <p:blipFill>
          <a:blip r:embed="rId3"/>
          <a:stretch>
            <a:fillRect/>
          </a:stretch>
        </p:blipFill>
        <p:spPr>
          <a:xfrm>
            <a:off x="189757" y="1124744"/>
            <a:ext cx="5616624" cy="4687946"/>
          </a:xfrm>
          <a:prstGeom prst="rect">
            <a:avLst/>
          </a:prstGeom>
        </p:spPr>
      </p:pic>
      <p:pic>
        <p:nvPicPr>
          <p:cNvPr id="8" name="Imagen 7">
            <a:extLst>
              <a:ext uri="{FF2B5EF4-FFF2-40B4-BE49-F238E27FC236}">
                <a16:creationId xmlns:a16="http://schemas.microsoft.com/office/drawing/2014/main" id="{CC1244D5-FA9C-4095-8D01-CEC44F5C8C59}"/>
              </a:ext>
            </a:extLst>
          </p:cNvPr>
          <p:cNvPicPr>
            <a:picLocks noChangeAspect="1"/>
          </p:cNvPicPr>
          <p:nvPr/>
        </p:nvPicPr>
        <p:blipFill>
          <a:blip r:embed="rId4"/>
          <a:stretch>
            <a:fillRect/>
          </a:stretch>
        </p:blipFill>
        <p:spPr>
          <a:xfrm>
            <a:off x="6106435" y="1127484"/>
            <a:ext cx="5892634" cy="4687946"/>
          </a:xfrm>
          <a:prstGeom prst="rect">
            <a:avLst/>
          </a:prstGeom>
        </p:spPr>
      </p:pic>
    </p:spTree>
    <p:extLst>
      <p:ext uri="{BB962C8B-B14F-4D97-AF65-F5344CB8AC3E}">
        <p14:creationId xmlns:p14="http://schemas.microsoft.com/office/powerpoint/2010/main" val="46876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4" name="Imagen 3">
            <a:extLst>
              <a:ext uri="{FF2B5EF4-FFF2-40B4-BE49-F238E27FC236}">
                <a16:creationId xmlns:a16="http://schemas.microsoft.com/office/drawing/2014/main" id="{17D5C324-6AC7-4792-84C0-89042ACC33E2}"/>
              </a:ext>
            </a:extLst>
          </p:cNvPr>
          <p:cNvPicPr>
            <a:picLocks noChangeAspect="1"/>
          </p:cNvPicPr>
          <p:nvPr/>
        </p:nvPicPr>
        <p:blipFill>
          <a:blip r:embed="rId3"/>
          <a:stretch>
            <a:fillRect/>
          </a:stretch>
        </p:blipFill>
        <p:spPr>
          <a:xfrm>
            <a:off x="189756" y="1214754"/>
            <a:ext cx="5272015" cy="4428492"/>
          </a:xfrm>
          <a:prstGeom prst="rect">
            <a:avLst/>
          </a:prstGeom>
        </p:spPr>
      </p:pic>
      <p:pic>
        <p:nvPicPr>
          <p:cNvPr id="7" name="Imagen 6">
            <a:extLst>
              <a:ext uri="{FF2B5EF4-FFF2-40B4-BE49-F238E27FC236}">
                <a16:creationId xmlns:a16="http://schemas.microsoft.com/office/drawing/2014/main" id="{FB5CC23F-EECE-4F82-AB3D-DBC0F0191B9E}"/>
              </a:ext>
            </a:extLst>
          </p:cNvPr>
          <p:cNvPicPr>
            <a:picLocks noChangeAspect="1"/>
          </p:cNvPicPr>
          <p:nvPr/>
        </p:nvPicPr>
        <p:blipFill rotWithShape="1">
          <a:blip r:embed="rId4"/>
          <a:srcRect l="1174"/>
          <a:stretch/>
        </p:blipFill>
        <p:spPr>
          <a:xfrm>
            <a:off x="5806380" y="1214755"/>
            <a:ext cx="6060976" cy="4518502"/>
          </a:xfrm>
          <a:prstGeom prst="rect">
            <a:avLst/>
          </a:prstGeom>
        </p:spPr>
      </p:pic>
    </p:spTree>
    <p:extLst>
      <p:ext uri="{BB962C8B-B14F-4D97-AF65-F5344CB8AC3E}">
        <p14:creationId xmlns:p14="http://schemas.microsoft.com/office/powerpoint/2010/main" val="1168956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3" name="Imagen 2">
            <a:extLst>
              <a:ext uri="{FF2B5EF4-FFF2-40B4-BE49-F238E27FC236}">
                <a16:creationId xmlns:a16="http://schemas.microsoft.com/office/drawing/2014/main" id="{96982F5B-5302-4019-9BA4-CDDBF8A9BCCC}"/>
              </a:ext>
            </a:extLst>
          </p:cNvPr>
          <p:cNvPicPr>
            <a:picLocks noChangeAspect="1"/>
          </p:cNvPicPr>
          <p:nvPr/>
        </p:nvPicPr>
        <p:blipFill rotWithShape="1">
          <a:blip r:embed="rId3"/>
          <a:srcRect t="1598"/>
          <a:stretch/>
        </p:blipFill>
        <p:spPr>
          <a:xfrm>
            <a:off x="117748" y="1340768"/>
            <a:ext cx="5823202" cy="4436751"/>
          </a:xfrm>
          <a:prstGeom prst="rect">
            <a:avLst/>
          </a:prstGeom>
        </p:spPr>
      </p:pic>
      <p:pic>
        <p:nvPicPr>
          <p:cNvPr id="8" name="Imagen 7">
            <a:extLst>
              <a:ext uri="{FF2B5EF4-FFF2-40B4-BE49-F238E27FC236}">
                <a16:creationId xmlns:a16="http://schemas.microsoft.com/office/drawing/2014/main" id="{77FA753D-FF1F-427A-BDC1-42C0DEEAE898}"/>
              </a:ext>
            </a:extLst>
          </p:cNvPr>
          <p:cNvPicPr>
            <a:picLocks noChangeAspect="1"/>
          </p:cNvPicPr>
          <p:nvPr/>
        </p:nvPicPr>
        <p:blipFill rotWithShape="1">
          <a:blip r:embed="rId4"/>
          <a:srcRect l="1405" r="-1"/>
          <a:stretch/>
        </p:blipFill>
        <p:spPr>
          <a:xfrm>
            <a:off x="6166420" y="1340768"/>
            <a:ext cx="5711026" cy="4436751"/>
          </a:xfrm>
          <a:prstGeom prst="rect">
            <a:avLst/>
          </a:prstGeom>
        </p:spPr>
      </p:pic>
    </p:spTree>
    <p:extLst>
      <p:ext uri="{BB962C8B-B14F-4D97-AF65-F5344CB8AC3E}">
        <p14:creationId xmlns:p14="http://schemas.microsoft.com/office/powerpoint/2010/main" val="2632843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4" name="Imagen 3">
            <a:extLst>
              <a:ext uri="{FF2B5EF4-FFF2-40B4-BE49-F238E27FC236}">
                <a16:creationId xmlns:a16="http://schemas.microsoft.com/office/drawing/2014/main" id="{4DC71DCB-FA1E-428F-BB5C-9BF658BDAFC4}"/>
              </a:ext>
            </a:extLst>
          </p:cNvPr>
          <p:cNvPicPr>
            <a:picLocks noChangeAspect="1"/>
          </p:cNvPicPr>
          <p:nvPr/>
        </p:nvPicPr>
        <p:blipFill rotWithShape="1">
          <a:blip r:embed="rId3"/>
          <a:srcRect l="849" t="1542" b="1299"/>
          <a:stretch/>
        </p:blipFill>
        <p:spPr>
          <a:xfrm>
            <a:off x="333773" y="1340769"/>
            <a:ext cx="5593386" cy="4248472"/>
          </a:xfrm>
          <a:prstGeom prst="rect">
            <a:avLst/>
          </a:prstGeom>
        </p:spPr>
      </p:pic>
      <p:pic>
        <p:nvPicPr>
          <p:cNvPr id="7" name="Imagen 6">
            <a:extLst>
              <a:ext uri="{FF2B5EF4-FFF2-40B4-BE49-F238E27FC236}">
                <a16:creationId xmlns:a16="http://schemas.microsoft.com/office/drawing/2014/main" id="{3FA9FE30-C8EB-4AC9-81A3-FD9AC285A379}"/>
              </a:ext>
            </a:extLst>
          </p:cNvPr>
          <p:cNvPicPr>
            <a:picLocks noChangeAspect="1"/>
          </p:cNvPicPr>
          <p:nvPr/>
        </p:nvPicPr>
        <p:blipFill>
          <a:blip r:embed="rId4"/>
          <a:stretch>
            <a:fillRect/>
          </a:stretch>
        </p:blipFill>
        <p:spPr>
          <a:xfrm>
            <a:off x="6108721" y="1369532"/>
            <a:ext cx="5593386" cy="4303683"/>
          </a:xfrm>
          <a:prstGeom prst="rect">
            <a:avLst/>
          </a:prstGeom>
        </p:spPr>
      </p:pic>
    </p:spTree>
    <p:extLst>
      <p:ext uri="{BB962C8B-B14F-4D97-AF65-F5344CB8AC3E}">
        <p14:creationId xmlns:p14="http://schemas.microsoft.com/office/powerpoint/2010/main" val="345824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Instalación y configuración de GIT</a:t>
            </a:r>
          </a:p>
        </p:txBody>
      </p:sp>
      <p:pic>
        <p:nvPicPr>
          <p:cNvPr id="3" name="Imagen 2">
            <a:extLst>
              <a:ext uri="{FF2B5EF4-FFF2-40B4-BE49-F238E27FC236}">
                <a16:creationId xmlns:a16="http://schemas.microsoft.com/office/drawing/2014/main" id="{21455FFF-DC6E-4F13-AFF7-1FECE877C459}"/>
              </a:ext>
            </a:extLst>
          </p:cNvPr>
          <p:cNvPicPr>
            <a:picLocks noChangeAspect="1"/>
          </p:cNvPicPr>
          <p:nvPr/>
        </p:nvPicPr>
        <p:blipFill>
          <a:blip r:embed="rId3"/>
          <a:stretch>
            <a:fillRect/>
          </a:stretch>
        </p:blipFill>
        <p:spPr>
          <a:xfrm>
            <a:off x="3128078" y="1268760"/>
            <a:ext cx="5932667" cy="4554370"/>
          </a:xfrm>
          <a:prstGeom prst="rect">
            <a:avLst/>
          </a:prstGeom>
        </p:spPr>
      </p:pic>
    </p:spTree>
    <p:extLst>
      <p:ext uri="{BB962C8B-B14F-4D97-AF65-F5344CB8AC3E}">
        <p14:creationId xmlns:p14="http://schemas.microsoft.com/office/powerpoint/2010/main" val="381853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sp>
        <p:nvSpPr>
          <p:cNvPr id="5" name="CuadroTexto 4">
            <a:extLst>
              <a:ext uri="{FF2B5EF4-FFF2-40B4-BE49-F238E27FC236}">
                <a16:creationId xmlns:a16="http://schemas.microsoft.com/office/drawing/2014/main" id="{2F4EED3D-BD24-483F-A27A-F6FDE8B4A14F}"/>
              </a:ext>
            </a:extLst>
          </p:cNvPr>
          <p:cNvSpPr txBox="1"/>
          <p:nvPr/>
        </p:nvSpPr>
        <p:spPr>
          <a:xfrm>
            <a:off x="477788" y="980728"/>
            <a:ext cx="10801200" cy="1015663"/>
          </a:xfrm>
          <a:prstGeom prst="rect">
            <a:avLst/>
          </a:prstGeom>
          <a:noFill/>
        </p:spPr>
        <p:txBody>
          <a:bodyPr wrap="square">
            <a:spAutoFit/>
          </a:bodyPr>
          <a:lstStyle/>
          <a:p>
            <a:pPr algn="just"/>
            <a:r>
              <a:rPr lang="es-MX" sz="2000" dirty="0">
                <a:latin typeface="Antique Olive" panose="020B0603020204030204"/>
              </a:rPr>
              <a:t>Git es un sistema de control de versiones distribuido que permite gestionar cambios localmente y sincronizarlos posteriormente. Según Chacón y Straub (2014), Git permite a los desarrolladores trabajar de forma distribuida manteniendo un historial completo del proyecto.</a:t>
            </a:r>
            <a:endParaRPr lang="es-PE" sz="2000" dirty="0">
              <a:latin typeface="Antique Olive" panose="020B0603020204030204"/>
            </a:endParaRPr>
          </a:p>
        </p:txBody>
      </p:sp>
      <p:pic>
        <p:nvPicPr>
          <p:cNvPr id="9" name="Imagen 8">
            <a:extLst>
              <a:ext uri="{FF2B5EF4-FFF2-40B4-BE49-F238E27FC236}">
                <a16:creationId xmlns:a16="http://schemas.microsoft.com/office/drawing/2014/main" id="{C247A5F9-3532-456D-B887-ACA1489E1685}"/>
              </a:ext>
            </a:extLst>
          </p:cNvPr>
          <p:cNvPicPr>
            <a:picLocks noChangeAspect="1"/>
          </p:cNvPicPr>
          <p:nvPr/>
        </p:nvPicPr>
        <p:blipFill>
          <a:blip r:embed="rId3"/>
          <a:stretch>
            <a:fillRect/>
          </a:stretch>
        </p:blipFill>
        <p:spPr>
          <a:xfrm>
            <a:off x="333772" y="2420888"/>
            <a:ext cx="2864140" cy="2932880"/>
          </a:xfrm>
          <a:prstGeom prst="rect">
            <a:avLst/>
          </a:prstGeom>
        </p:spPr>
      </p:pic>
      <p:sp>
        <p:nvSpPr>
          <p:cNvPr id="11" name="CuadroTexto 10">
            <a:extLst>
              <a:ext uri="{FF2B5EF4-FFF2-40B4-BE49-F238E27FC236}">
                <a16:creationId xmlns:a16="http://schemas.microsoft.com/office/drawing/2014/main" id="{323D5E66-6CF0-46A9-B5AF-F745CC2D0845}"/>
              </a:ext>
            </a:extLst>
          </p:cNvPr>
          <p:cNvSpPr txBox="1"/>
          <p:nvPr/>
        </p:nvSpPr>
        <p:spPr>
          <a:xfrm>
            <a:off x="3790156" y="2190055"/>
            <a:ext cx="2952328" cy="400110"/>
          </a:xfrm>
          <a:prstGeom prst="rect">
            <a:avLst/>
          </a:prstGeom>
          <a:noFill/>
        </p:spPr>
        <p:txBody>
          <a:bodyPr wrap="square">
            <a:spAutoFit/>
          </a:bodyPr>
          <a:lstStyle/>
          <a:p>
            <a:r>
              <a:rPr lang="es-PE" sz="2000" b="1" dirty="0">
                <a:solidFill>
                  <a:schemeClr val="accent5"/>
                </a:solidFill>
                <a:latin typeface="Antique Olive" panose="020B0603020204030204"/>
              </a:rPr>
              <a:t>Flujo mental de Git local</a:t>
            </a:r>
          </a:p>
        </p:txBody>
      </p:sp>
      <p:sp>
        <p:nvSpPr>
          <p:cNvPr id="13" name="CuadroTexto 12">
            <a:extLst>
              <a:ext uri="{FF2B5EF4-FFF2-40B4-BE49-F238E27FC236}">
                <a16:creationId xmlns:a16="http://schemas.microsoft.com/office/drawing/2014/main" id="{65CBB715-3A35-4294-A5B8-14FC0E4062B9}"/>
              </a:ext>
            </a:extLst>
          </p:cNvPr>
          <p:cNvSpPr txBox="1"/>
          <p:nvPr/>
        </p:nvSpPr>
        <p:spPr>
          <a:xfrm>
            <a:off x="4220870" y="2619247"/>
            <a:ext cx="6914102"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sz="1800" dirty="0" err="1"/>
              <a:t>Working</a:t>
            </a:r>
            <a:r>
              <a:rPr lang="es-PE" sz="1800" dirty="0"/>
              <a:t> </a:t>
            </a:r>
            <a:r>
              <a:rPr lang="es-PE" sz="1800" dirty="0" err="1"/>
              <a:t>Directory</a:t>
            </a:r>
            <a:r>
              <a:rPr lang="es-PE" sz="1800" dirty="0"/>
              <a:t>: donde editas archivos. (modificaciones)</a:t>
            </a:r>
          </a:p>
        </p:txBody>
      </p:sp>
      <p:sp>
        <p:nvSpPr>
          <p:cNvPr id="15" name="CuadroTexto 14">
            <a:extLst>
              <a:ext uri="{FF2B5EF4-FFF2-40B4-BE49-F238E27FC236}">
                <a16:creationId xmlns:a16="http://schemas.microsoft.com/office/drawing/2014/main" id="{24911991-84A7-497F-93A7-37B1C6B5AB7B}"/>
              </a:ext>
            </a:extLst>
          </p:cNvPr>
          <p:cNvSpPr txBox="1"/>
          <p:nvPr/>
        </p:nvSpPr>
        <p:spPr>
          <a:xfrm>
            <a:off x="4220870" y="3062424"/>
            <a:ext cx="7778198"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dirty="0" err="1"/>
              <a:t>Staging</a:t>
            </a:r>
            <a:r>
              <a:rPr lang="es-MX" sz="1800" dirty="0"/>
              <a:t> </a:t>
            </a:r>
            <a:r>
              <a:rPr lang="es-MX" sz="1800" dirty="0" err="1"/>
              <a:t>Area</a:t>
            </a:r>
            <a:r>
              <a:rPr lang="es-MX" sz="1800" dirty="0"/>
              <a:t>: donde preparas cambios. (archivos preparados para </a:t>
            </a:r>
            <a:r>
              <a:rPr lang="es-MX" sz="1800" dirty="0" err="1"/>
              <a:t>commit</a:t>
            </a:r>
            <a:r>
              <a:rPr lang="es-MX" sz="1800" dirty="0"/>
              <a:t>)</a:t>
            </a:r>
            <a:endParaRPr lang="es-PE" sz="1800" dirty="0"/>
          </a:p>
        </p:txBody>
      </p:sp>
      <p:sp>
        <p:nvSpPr>
          <p:cNvPr id="17" name="CuadroTexto 16">
            <a:extLst>
              <a:ext uri="{FF2B5EF4-FFF2-40B4-BE49-F238E27FC236}">
                <a16:creationId xmlns:a16="http://schemas.microsoft.com/office/drawing/2014/main" id="{DC21F53B-1D16-4093-93CB-A22724FEDBF7}"/>
              </a:ext>
            </a:extLst>
          </p:cNvPr>
          <p:cNvSpPr txBox="1"/>
          <p:nvPr/>
        </p:nvSpPr>
        <p:spPr>
          <a:xfrm>
            <a:off x="4220870" y="3520752"/>
            <a:ext cx="6914102"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dirty="0" err="1"/>
              <a:t>Repository</a:t>
            </a:r>
            <a:r>
              <a:rPr lang="es-MX" sz="1800" dirty="0"/>
              <a:t> → donde guardas un </a:t>
            </a:r>
            <a:r>
              <a:rPr lang="es-MX" sz="1800" dirty="0" err="1"/>
              <a:t>commit</a:t>
            </a:r>
            <a:r>
              <a:rPr lang="es-MX" sz="1800" dirty="0"/>
              <a:t>. (</a:t>
            </a:r>
            <a:r>
              <a:rPr lang="es-MX" sz="1800" dirty="0" err="1"/>
              <a:t>commits</a:t>
            </a:r>
            <a:r>
              <a:rPr lang="es-MX" sz="1800" dirty="0"/>
              <a:t> guardados)</a:t>
            </a:r>
            <a:endParaRPr lang="es-PE" sz="1800" dirty="0"/>
          </a:p>
        </p:txBody>
      </p:sp>
      <p:sp>
        <p:nvSpPr>
          <p:cNvPr id="18" name="Flecha: a la derecha con bandas 17">
            <a:extLst>
              <a:ext uri="{FF2B5EF4-FFF2-40B4-BE49-F238E27FC236}">
                <a16:creationId xmlns:a16="http://schemas.microsoft.com/office/drawing/2014/main" id="{75EA7C53-BC3E-4D9B-A13E-23AEC9ECD8DA}"/>
              </a:ext>
            </a:extLst>
          </p:cNvPr>
          <p:cNvSpPr/>
          <p:nvPr/>
        </p:nvSpPr>
        <p:spPr>
          <a:xfrm>
            <a:off x="3932838" y="2627934"/>
            <a:ext cx="288032" cy="400110"/>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Flecha: a la derecha con bandas 18">
            <a:extLst>
              <a:ext uri="{FF2B5EF4-FFF2-40B4-BE49-F238E27FC236}">
                <a16:creationId xmlns:a16="http://schemas.microsoft.com/office/drawing/2014/main" id="{2E34D0FA-54E7-4F86-901B-34306371422F}"/>
              </a:ext>
            </a:extLst>
          </p:cNvPr>
          <p:cNvSpPr/>
          <p:nvPr/>
        </p:nvSpPr>
        <p:spPr>
          <a:xfrm>
            <a:off x="3932838" y="3080440"/>
            <a:ext cx="288032" cy="400110"/>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Flecha: a la derecha con bandas 19">
            <a:extLst>
              <a:ext uri="{FF2B5EF4-FFF2-40B4-BE49-F238E27FC236}">
                <a16:creationId xmlns:a16="http://schemas.microsoft.com/office/drawing/2014/main" id="{BD803D5F-36FD-4EC2-97FA-575D40375CA9}"/>
              </a:ext>
            </a:extLst>
          </p:cNvPr>
          <p:cNvSpPr/>
          <p:nvPr/>
        </p:nvSpPr>
        <p:spPr>
          <a:xfrm>
            <a:off x="3932838" y="3532946"/>
            <a:ext cx="288032" cy="400110"/>
          </a:xfrm>
          <a:prstGeom prst="strip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650961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sp>
        <p:nvSpPr>
          <p:cNvPr id="5" name="CuadroTexto 4">
            <a:extLst>
              <a:ext uri="{FF2B5EF4-FFF2-40B4-BE49-F238E27FC236}">
                <a16:creationId xmlns:a16="http://schemas.microsoft.com/office/drawing/2014/main" id="{2F4EED3D-BD24-483F-A27A-F6FDE8B4A14F}"/>
              </a:ext>
            </a:extLst>
          </p:cNvPr>
          <p:cNvSpPr txBox="1"/>
          <p:nvPr/>
        </p:nvSpPr>
        <p:spPr>
          <a:xfrm>
            <a:off x="536848" y="840539"/>
            <a:ext cx="3096344" cy="400110"/>
          </a:xfrm>
          <a:prstGeom prst="rect">
            <a:avLst/>
          </a:prstGeom>
          <a:noFill/>
        </p:spPr>
        <p:txBody>
          <a:bodyPr wrap="square">
            <a:spAutoFit/>
          </a:bodyPr>
          <a:lstStyle/>
          <a:p>
            <a:pPr algn="just"/>
            <a:r>
              <a:rPr lang="es-MX" sz="2000" b="1" dirty="0">
                <a:latin typeface="Antique Olive" panose="020B0603020204030204"/>
              </a:rPr>
              <a:t>Git configuración inicial</a:t>
            </a:r>
            <a:endParaRPr lang="es-PE" sz="2000" b="1" dirty="0">
              <a:latin typeface="Antique Olive" panose="020B0603020204030204"/>
            </a:endParaRPr>
          </a:p>
        </p:txBody>
      </p:sp>
      <p:sp>
        <p:nvSpPr>
          <p:cNvPr id="13" name="CuadroTexto 12">
            <a:extLst>
              <a:ext uri="{FF2B5EF4-FFF2-40B4-BE49-F238E27FC236}">
                <a16:creationId xmlns:a16="http://schemas.microsoft.com/office/drawing/2014/main" id="{65CBB715-3A35-4294-A5B8-14FC0E4062B9}"/>
              </a:ext>
            </a:extLst>
          </p:cNvPr>
          <p:cNvSpPr txBox="1"/>
          <p:nvPr/>
        </p:nvSpPr>
        <p:spPr>
          <a:xfrm>
            <a:off x="570175" y="1171782"/>
            <a:ext cx="6914102" cy="923330"/>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PE" sz="1800" dirty="0"/>
              <a:t>La configuración inicial es importante, porque nos permite configurar el nombre de usuario y el email con la cual se trabajará, el cual determinará también, el uso del repositorio remoto.</a:t>
            </a:r>
          </a:p>
        </p:txBody>
      </p:sp>
      <p:sp>
        <p:nvSpPr>
          <p:cNvPr id="15" name="CuadroTexto 14">
            <a:extLst>
              <a:ext uri="{FF2B5EF4-FFF2-40B4-BE49-F238E27FC236}">
                <a16:creationId xmlns:a16="http://schemas.microsoft.com/office/drawing/2014/main" id="{24911991-84A7-497F-93A7-37B1C6B5AB7B}"/>
              </a:ext>
            </a:extLst>
          </p:cNvPr>
          <p:cNvSpPr txBox="1"/>
          <p:nvPr/>
        </p:nvSpPr>
        <p:spPr>
          <a:xfrm>
            <a:off x="549796" y="2233291"/>
            <a:ext cx="4392488"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b="1" dirty="0"/>
              <a:t>Iniciamos con el siguientes comando:</a:t>
            </a:r>
            <a:endParaRPr lang="es-PE" sz="1800" b="1" dirty="0"/>
          </a:p>
        </p:txBody>
      </p:sp>
      <p:sp>
        <p:nvSpPr>
          <p:cNvPr id="17" name="CuadroTexto 16">
            <a:extLst>
              <a:ext uri="{FF2B5EF4-FFF2-40B4-BE49-F238E27FC236}">
                <a16:creationId xmlns:a16="http://schemas.microsoft.com/office/drawing/2014/main" id="{DC21F53B-1D16-4093-93CB-A22724FEDBF7}"/>
              </a:ext>
            </a:extLst>
          </p:cNvPr>
          <p:cNvSpPr txBox="1"/>
          <p:nvPr/>
        </p:nvSpPr>
        <p:spPr>
          <a:xfrm>
            <a:off x="869168" y="2642225"/>
            <a:ext cx="6914102"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dirty="0" err="1"/>
              <a:t>git</a:t>
            </a:r>
            <a:r>
              <a:rPr lang="es-MX" sz="1800" dirty="0"/>
              <a:t> </a:t>
            </a:r>
            <a:r>
              <a:rPr lang="es-MX" sz="1800" dirty="0" err="1"/>
              <a:t>config</a:t>
            </a:r>
            <a:r>
              <a:rPr lang="es-MX" sz="1800" dirty="0"/>
              <a:t> --</a:t>
            </a:r>
            <a:r>
              <a:rPr lang="es-MX" sz="1800" dirty="0" err="1"/>
              <a:t>list</a:t>
            </a:r>
            <a:endParaRPr lang="es-PE" sz="1800" dirty="0"/>
          </a:p>
        </p:txBody>
      </p:sp>
      <p:sp>
        <p:nvSpPr>
          <p:cNvPr id="12" name="CuadroTexto 11">
            <a:extLst>
              <a:ext uri="{FF2B5EF4-FFF2-40B4-BE49-F238E27FC236}">
                <a16:creationId xmlns:a16="http://schemas.microsoft.com/office/drawing/2014/main" id="{5A5ACAA2-F3FC-447A-A853-315227CC9945}"/>
              </a:ext>
            </a:extLst>
          </p:cNvPr>
          <p:cNvSpPr txBox="1"/>
          <p:nvPr/>
        </p:nvSpPr>
        <p:spPr>
          <a:xfrm>
            <a:off x="869168" y="3051159"/>
            <a:ext cx="4619840"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dirty="0" err="1"/>
              <a:t>git</a:t>
            </a:r>
            <a:r>
              <a:rPr lang="es-MX" sz="1800" dirty="0"/>
              <a:t> </a:t>
            </a:r>
            <a:r>
              <a:rPr lang="es-MX" sz="1800" dirty="0" err="1"/>
              <a:t>config</a:t>
            </a:r>
            <a:r>
              <a:rPr lang="es-MX" sz="1800" dirty="0"/>
              <a:t> --global user.name “</a:t>
            </a:r>
            <a:r>
              <a:rPr lang="es-MX" sz="1800" dirty="0" err="1"/>
              <a:t>nombreUsuario</a:t>
            </a:r>
            <a:r>
              <a:rPr lang="es-MX" sz="1800" dirty="0"/>
              <a:t>” </a:t>
            </a:r>
            <a:endParaRPr lang="es-PE" sz="1800" dirty="0"/>
          </a:p>
        </p:txBody>
      </p:sp>
      <p:sp>
        <p:nvSpPr>
          <p:cNvPr id="14" name="CuadroTexto 13">
            <a:extLst>
              <a:ext uri="{FF2B5EF4-FFF2-40B4-BE49-F238E27FC236}">
                <a16:creationId xmlns:a16="http://schemas.microsoft.com/office/drawing/2014/main" id="{193B1F09-B366-4170-9265-AF21FB24ACB6}"/>
              </a:ext>
            </a:extLst>
          </p:cNvPr>
          <p:cNvSpPr txBox="1"/>
          <p:nvPr/>
        </p:nvSpPr>
        <p:spPr>
          <a:xfrm>
            <a:off x="869168" y="3463244"/>
            <a:ext cx="4505164" cy="369332"/>
          </a:xfrm>
          <a:prstGeom prst="rect">
            <a:avLst/>
          </a:prstGeom>
          <a:noFill/>
        </p:spPr>
        <p:txBody>
          <a:bodyPr wrap="square">
            <a:spAutoFit/>
          </a:bodyPr>
          <a:lstStyle>
            <a:defPPr rtl="0">
              <a:defRPr lang="es-ES"/>
            </a:defPPr>
            <a:lvl1pPr algn="just">
              <a:defRPr sz="2000">
                <a:latin typeface="Antique Olive" panose="020B0603020204030204"/>
              </a:defRPr>
            </a:lvl1pPr>
          </a:lstStyle>
          <a:p>
            <a:r>
              <a:rPr lang="es-MX" sz="1800" dirty="0" err="1"/>
              <a:t>git</a:t>
            </a:r>
            <a:r>
              <a:rPr lang="es-MX" sz="1800" dirty="0"/>
              <a:t> </a:t>
            </a:r>
            <a:r>
              <a:rPr lang="es-MX" sz="1800" dirty="0" err="1"/>
              <a:t>config</a:t>
            </a:r>
            <a:r>
              <a:rPr lang="es-MX" sz="1800" dirty="0"/>
              <a:t> --global </a:t>
            </a:r>
            <a:r>
              <a:rPr lang="es-MX" sz="1800" dirty="0" err="1"/>
              <a:t>user.email</a:t>
            </a:r>
            <a:r>
              <a:rPr lang="es-MX" sz="1800" dirty="0"/>
              <a:t> “email” </a:t>
            </a:r>
            <a:endParaRPr lang="es-PE" sz="1800" dirty="0"/>
          </a:p>
        </p:txBody>
      </p:sp>
      <p:sp>
        <p:nvSpPr>
          <p:cNvPr id="2" name="Flecha: cheurón 1">
            <a:extLst>
              <a:ext uri="{FF2B5EF4-FFF2-40B4-BE49-F238E27FC236}">
                <a16:creationId xmlns:a16="http://schemas.microsoft.com/office/drawing/2014/main" id="{2C72B9FD-F7A9-4F28-B82C-9EC460514C7E}"/>
              </a:ext>
            </a:extLst>
          </p:cNvPr>
          <p:cNvSpPr/>
          <p:nvPr/>
        </p:nvSpPr>
        <p:spPr>
          <a:xfrm>
            <a:off x="653144" y="2748522"/>
            <a:ext cx="216024" cy="216024"/>
          </a:xfrm>
          <a:prstGeom prst="chevr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21" name="Flecha: cheurón 20">
            <a:extLst>
              <a:ext uri="{FF2B5EF4-FFF2-40B4-BE49-F238E27FC236}">
                <a16:creationId xmlns:a16="http://schemas.microsoft.com/office/drawing/2014/main" id="{89F0841B-F087-45A2-B0A8-7DB67C59028B}"/>
              </a:ext>
            </a:extLst>
          </p:cNvPr>
          <p:cNvSpPr/>
          <p:nvPr/>
        </p:nvSpPr>
        <p:spPr>
          <a:xfrm>
            <a:off x="653144" y="3146775"/>
            <a:ext cx="216024" cy="216024"/>
          </a:xfrm>
          <a:prstGeom prst="chevr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sp>
        <p:nvSpPr>
          <p:cNvPr id="22" name="Flecha: cheurón 21">
            <a:extLst>
              <a:ext uri="{FF2B5EF4-FFF2-40B4-BE49-F238E27FC236}">
                <a16:creationId xmlns:a16="http://schemas.microsoft.com/office/drawing/2014/main" id="{271C1F4F-3461-495A-B6DD-452B57D5B031}"/>
              </a:ext>
            </a:extLst>
          </p:cNvPr>
          <p:cNvSpPr/>
          <p:nvPr/>
        </p:nvSpPr>
        <p:spPr>
          <a:xfrm>
            <a:off x="653144" y="3540091"/>
            <a:ext cx="216024" cy="216024"/>
          </a:xfrm>
          <a:prstGeom prst="chevr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tx1"/>
              </a:solidFill>
            </a:endParaRPr>
          </a:p>
        </p:txBody>
      </p:sp>
      <p:pic>
        <p:nvPicPr>
          <p:cNvPr id="4" name="Imagen 3">
            <a:extLst>
              <a:ext uri="{FF2B5EF4-FFF2-40B4-BE49-F238E27FC236}">
                <a16:creationId xmlns:a16="http://schemas.microsoft.com/office/drawing/2014/main" id="{C03C30E4-D31D-409E-BF6A-A169FED80FBA}"/>
              </a:ext>
            </a:extLst>
          </p:cNvPr>
          <p:cNvPicPr>
            <a:picLocks noChangeAspect="1"/>
          </p:cNvPicPr>
          <p:nvPr/>
        </p:nvPicPr>
        <p:blipFill>
          <a:blip r:embed="rId3"/>
          <a:stretch>
            <a:fillRect/>
          </a:stretch>
        </p:blipFill>
        <p:spPr>
          <a:xfrm>
            <a:off x="5489008" y="2132856"/>
            <a:ext cx="6654075" cy="3928794"/>
          </a:xfrm>
          <a:prstGeom prst="rect">
            <a:avLst/>
          </a:prstGeom>
        </p:spPr>
      </p:pic>
    </p:spTree>
    <p:extLst>
      <p:ext uri="{BB962C8B-B14F-4D97-AF65-F5344CB8AC3E}">
        <p14:creationId xmlns:p14="http://schemas.microsoft.com/office/powerpoint/2010/main" val="146613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pic>
        <p:nvPicPr>
          <p:cNvPr id="9" name="Imagen 8">
            <a:extLst>
              <a:ext uri="{FF2B5EF4-FFF2-40B4-BE49-F238E27FC236}">
                <a16:creationId xmlns:a16="http://schemas.microsoft.com/office/drawing/2014/main" id="{C247A5F9-3532-456D-B887-ACA1489E1685}"/>
              </a:ext>
            </a:extLst>
          </p:cNvPr>
          <p:cNvPicPr>
            <a:picLocks noChangeAspect="1"/>
          </p:cNvPicPr>
          <p:nvPr/>
        </p:nvPicPr>
        <p:blipFill>
          <a:blip r:embed="rId3"/>
          <a:stretch>
            <a:fillRect/>
          </a:stretch>
        </p:blipFill>
        <p:spPr>
          <a:xfrm>
            <a:off x="9046740" y="1962560"/>
            <a:ext cx="2864140" cy="2932880"/>
          </a:xfrm>
          <a:prstGeom prst="rect">
            <a:avLst/>
          </a:prstGeom>
        </p:spPr>
      </p:pic>
      <p:sp>
        <p:nvSpPr>
          <p:cNvPr id="14" name="CuadroTexto 13">
            <a:extLst>
              <a:ext uri="{FF2B5EF4-FFF2-40B4-BE49-F238E27FC236}">
                <a16:creationId xmlns:a16="http://schemas.microsoft.com/office/drawing/2014/main" id="{89FF37E1-5BB9-465D-81A9-01E91AFD44E2}"/>
              </a:ext>
            </a:extLst>
          </p:cNvPr>
          <p:cNvSpPr txBox="1"/>
          <p:nvPr/>
        </p:nvSpPr>
        <p:spPr>
          <a:xfrm>
            <a:off x="765820" y="855876"/>
            <a:ext cx="1224136" cy="461665"/>
          </a:xfrm>
          <a:prstGeom prst="rect">
            <a:avLst/>
          </a:prstGeom>
          <a:noFill/>
        </p:spPr>
        <p:txBody>
          <a:bodyPr wrap="square">
            <a:spAutoFit/>
          </a:bodyPr>
          <a:lstStyle/>
          <a:p>
            <a:r>
              <a:rPr lang="es-PE" b="1" dirty="0" err="1">
                <a:solidFill>
                  <a:schemeClr val="accent5"/>
                </a:solidFill>
                <a:latin typeface="Antique Olive" panose="020B0603020204030204"/>
              </a:rPr>
              <a:t>git</a:t>
            </a:r>
            <a:r>
              <a:rPr lang="es-PE" b="1" dirty="0">
                <a:solidFill>
                  <a:schemeClr val="accent5"/>
                </a:solidFill>
                <a:latin typeface="Antique Olive" panose="020B0603020204030204"/>
              </a:rPr>
              <a:t> </a:t>
            </a:r>
            <a:r>
              <a:rPr lang="es-PE" b="1" dirty="0" err="1">
                <a:solidFill>
                  <a:schemeClr val="accent5"/>
                </a:solidFill>
                <a:latin typeface="Antique Olive" panose="020B0603020204030204"/>
              </a:rPr>
              <a:t>init</a:t>
            </a:r>
            <a:endParaRPr lang="es-PE" b="1" dirty="0">
              <a:solidFill>
                <a:schemeClr val="accent5"/>
              </a:solidFill>
              <a:latin typeface="Antique Olive" panose="020B0603020204030204"/>
            </a:endParaRPr>
          </a:p>
        </p:txBody>
      </p:sp>
      <p:sp>
        <p:nvSpPr>
          <p:cNvPr id="16" name="CuadroTexto 15">
            <a:extLst>
              <a:ext uri="{FF2B5EF4-FFF2-40B4-BE49-F238E27FC236}">
                <a16:creationId xmlns:a16="http://schemas.microsoft.com/office/drawing/2014/main" id="{DAE873C4-CA9D-458C-8194-F8417A60D107}"/>
              </a:ext>
            </a:extLst>
          </p:cNvPr>
          <p:cNvSpPr txBox="1"/>
          <p:nvPr/>
        </p:nvSpPr>
        <p:spPr>
          <a:xfrm>
            <a:off x="981844" y="1317541"/>
            <a:ext cx="6096000" cy="400110"/>
          </a:xfrm>
          <a:prstGeom prst="rect">
            <a:avLst/>
          </a:prstGeom>
          <a:noFill/>
        </p:spPr>
        <p:txBody>
          <a:bodyPr wrap="square">
            <a:spAutoFit/>
          </a:bodyPr>
          <a:lstStyle/>
          <a:p>
            <a:r>
              <a:rPr lang="es-PE" sz="2000" dirty="0">
                <a:latin typeface="Antique Olive" panose="020B0603020204030204"/>
              </a:rPr>
              <a:t>Inicializa un repositorio Git en una carpeta.</a:t>
            </a:r>
          </a:p>
        </p:txBody>
      </p:sp>
      <p:sp>
        <p:nvSpPr>
          <p:cNvPr id="4" name="Lágrima 3">
            <a:extLst>
              <a:ext uri="{FF2B5EF4-FFF2-40B4-BE49-F238E27FC236}">
                <a16:creationId xmlns:a16="http://schemas.microsoft.com/office/drawing/2014/main" id="{4EEB13D8-8A17-4C39-AC0E-DD786EF899B3}"/>
              </a:ext>
            </a:extLst>
          </p:cNvPr>
          <p:cNvSpPr/>
          <p:nvPr/>
        </p:nvSpPr>
        <p:spPr>
          <a:xfrm>
            <a:off x="477788" y="1011778"/>
            <a:ext cx="288032" cy="216024"/>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CuadroTexto 20">
            <a:extLst>
              <a:ext uri="{FF2B5EF4-FFF2-40B4-BE49-F238E27FC236}">
                <a16:creationId xmlns:a16="http://schemas.microsoft.com/office/drawing/2014/main" id="{E235A4AD-D553-42D8-AAAF-A9BA5BF9EB4C}"/>
              </a:ext>
            </a:extLst>
          </p:cNvPr>
          <p:cNvSpPr txBox="1"/>
          <p:nvPr/>
        </p:nvSpPr>
        <p:spPr>
          <a:xfrm>
            <a:off x="981844" y="1762505"/>
            <a:ext cx="6096000" cy="1015663"/>
          </a:xfrm>
          <a:prstGeom prst="rect">
            <a:avLst/>
          </a:prstGeom>
          <a:noFill/>
        </p:spPr>
        <p:txBody>
          <a:bodyPr wrap="square">
            <a:spAutoFit/>
          </a:bodyPr>
          <a:lstStyle/>
          <a:p>
            <a:pPr algn="just"/>
            <a:r>
              <a:rPr lang="es-PE" sz="2000" dirty="0">
                <a:latin typeface="Antique Olive" panose="020B0603020204030204"/>
              </a:rPr>
              <a:t>Cuando inicializamos un determinado proyecto, se crea una carpeta oculta .</a:t>
            </a:r>
            <a:r>
              <a:rPr lang="es-PE" sz="2000" dirty="0" err="1">
                <a:latin typeface="Antique Olive" panose="020B0603020204030204"/>
              </a:rPr>
              <a:t>git</a:t>
            </a:r>
            <a:r>
              <a:rPr lang="es-PE" sz="2000" dirty="0">
                <a:latin typeface="Antique Olive" panose="020B0603020204030204"/>
              </a:rPr>
              <a:t>, el cual almacena lo siguiente: historial, objetos, referencias, ramas, metadatos.</a:t>
            </a:r>
          </a:p>
        </p:txBody>
      </p:sp>
      <p:sp>
        <p:nvSpPr>
          <p:cNvPr id="22" name="CuadroTexto 21">
            <a:extLst>
              <a:ext uri="{FF2B5EF4-FFF2-40B4-BE49-F238E27FC236}">
                <a16:creationId xmlns:a16="http://schemas.microsoft.com/office/drawing/2014/main" id="{160E6AEA-E84C-4B93-B37E-01142A1A9EE6}"/>
              </a:ext>
            </a:extLst>
          </p:cNvPr>
          <p:cNvSpPr txBox="1"/>
          <p:nvPr/>
        </p:nvSpPr>
        <p:spPr>
          <a:xfrm>
            <a:off x="981844" y="2823022"/>
            <a:ext cx="1224136" cy="400110"/>
          </a:xfrm>
          <a:prstGeom prst="rect">
            <a:avLst/>
          </a:prstGeom>
          <a:noFill/>
        </p:spPr>
        <p:txBody>
          <a:bodyPr wrap="square">
            <a:spAutoFit/>
          </a:bodyPr>
          <a:lstStyle/>
          <a:p>
            <a:r>
              <a:rPr lang="es-PE" sz="2000" b="1" dirty="0">
                <a:solidFill>
                  <a:schemeClr val="accent5"/>
                </a:solidFill>
                <a:latin typeface="Antique Olive" panose="020B0603020204030204"/>
              </a:rPr>
              <a:t>Ejemplo</a:t>
            </a:r>
          </a:p>
        </p:txBody>
      </p:sp>
      <p:sp>
        <p:nvSpPr>
          <p:cNvPr id="23" name="CuadroTexto 22">
            <a:extLst>
              <a:ext uri="{FF2B5EF4-FFF2-40B4-BE49-F238E27FC236}">
                <a16:creationId xmlns:a16="http://schemas.microsoft.com/office/drawing/2014/main" id="{F031D268-67B3-440D-BCE3-EF257CE818D4}"/>
              </a:ext>
            </a:extLst>
          </p:cNvPr>
          <p:cNvSpPr txBox="1"/>
          <p:nvPr/>
        </p:nvSpPr>
        <p:spPr>
          <a:xfrm>
            <a:off x="981844" y="3251997"/>
            <a:ext cx="6096000"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a:t>
            </a:r>
            <a:r>
              <a:rPr lang="es-PE" sz="2000" dirty="0" err="1">
                <a:latin typeface="Antique Olive" panose="020B0603020204030204"/>
              </a:rPr>
              <a:t>init</a:t>
            </a:r>
            <a:endParaRPr lang="es-PE" sz="2000" dirty="0">
              <a:latin typeface="Antique Olive" panose="020B0603020204030204"/>
            </a:endParaRPr>
          </a:p>
        </p:txBody>
      </p:sp>
      <p:pic>
        <p:nvPicPr>
          <p:cNvPr id="8" name="Imagen 7">
            <a:extLst>
              <a:ext uri="{FF2B5EF4-FFF2-40B4-BE49-F238E27FC236}">
                <a16:creationId xmlns:a16="http://schemas.microsoft.com/office/drawing/2014/main" id="{525A206F-BAD1-43DB-8151-87F361CD2D58}"/>
              </a:ext>
            </a:extLst>
          </p:cNvPr>
          <p:cNvPicPr>
            <a:picLocks noChangeAspect="1"/>
          </p:cNvPicPr>
          <p:nvPr/>
        </p:nvPicPr>
        <p:blipFill rotWithShape="1">
          <a:blip r:embed="rId4"/>
          <a:srcRect r="22346" b="56779"/>
          <a:stretch/>
        </p:blipFill>
        <p:spPr>
          <a:xfrm>
            <a:off x="981844" y="3696961"/>
            <a:ext cx="5994225" cy="2016224"/>
          </a:xfrm>
          <a:prstGeom prst="rect">
            <a:avLst/>
          </a:prstGeom>
        </p:spPr>
      </p:pic>
      <p:sp>
        <p:nvSpPr>
          <p:cNvPr id="10" name="Rectángulo: esquinas redondeadas 9">
            <a:extLst>
              <a:ext uri="{FF2B5EF4-FFF2-40B4-BE49-F238E27FC236}">
                <a16:creationId xmlns:a16="http://schemas.microsoft.com/office/drawing/2014/main" id="{1D72B6F4-4AD2-4187-A2A7-365450D7A708}"/>
              </a:ext>
            </a:extLst>
          </p:cNvPr>
          <p:cNvSpPr/>
          <p:nvPr/>
        </p:nvSpPr>
        <p:spPr>
          <a:xfrm>
            <a:off x="4654252" y="4895440"/>
            <a:ext cx="864096" cy="333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88636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pic>
        <p:nvPicPr>
          <p:cNvPr id="9" name="Imagen 8">
            <a:extLst>
              <a:ext uri="{FF2B5EF4-FFF2-40B4-BE49-F238E27FC236}">
                <a16:creationId xmlns:a16="http://schemas.microsoft.com/office/drawing/2014/main" id="{C247A5F9-3532-456D-B887-ACA1489E1685}"/>
              </a:ext>
            </a:extLst>
          </p:cNvPr>
          <p:cNvPicPr>
            <a:picLocks noChangeAspect="1"/>
          </p:cNvPicPr>
          <p:nvPr/>
        </p:nvPicPr>
        <p:blipFill>
          <a:blip r:embed="rId3"/>
          <a:stretch>
            <a:fillRect/>
          </a:stretch>
        </p:blipFill>
        <p:spPr>
          <a:xfrm>
            <a:off x="9046740" y="1962560"/>
            <a:ext cx="2864140" cy="2932880"/>
          </a:xfrm>
          <a:prstGeom prst="rect">
            <a:avLst/>
          </a:prstGeom>
        </p:spPr>
      </p:pic>
      <p:sp>
        <p:nvSpPr>
          <p:cNvPr id="14" name="CuadroTexto 13">
            <a:extLst>
              <a:ext uri="{FF2B5EF4-FFF2-40B4-BE49-F238E27FC236}">
                <a16:creationId xmlns:a16="http://schemas.microsoft.com/office/drawing/2014/main" id="{89FF37E1-5BB9-465D-81A9-01E91AFD44E2}"/>
              </a:ext>
            </a:extLst>
          </p:cNvPr>
          <p:cNvSpPr txBox="1"/>
          <p:nvPr/>
        </p:nvSpPr>
        <p:spPr>
          <a:xfrm>
            <a:off x="765820" y="855876"/>
            <a:ext cx="1584176" cy="461665"/>
          </a:xfrm>
          <a:prstGeom prst="rect">
            <a:avLst/>
          </a:prstGeom>
          <a:noFill/>
        </p:spPr>
        <p:txBody>
          <a:bodyPr wrap="square">
            <a:spAutoFit/>
          </a:bodyPr>
          <a:lstStyle/>
          <a:p>
            <a:r>
              <a:rPr lang="es-PE" b="1" dirty="0" err="1">
                <a:solidFill>
                  <a:schemeClr val="accent5"/>
                </a:solidFill>
                <a:latin typeface="Antique Olive" panose="020B0603020204030204"/>
              </a:rPr>
              <a:t>git</a:t>
            </a:r>
            <a:r>
              <a:rPr lang="es-PE" b="1" dirty="0">
                <a:solidFill>
                  <a:schemeClr val="accent5"/>
                </a:solidFill>
                <a:latin typeface="Antique Olive" panose="020B0603020204030204"/>
              </a:rPr>
              <a:t> status</a:t>
            </a:r>
          </a:p>
        </p:txBody>
      </p:sp>
      <p:sp>
        <p:nvSpPr>
          <p:cNvPr id="16" name="CuadroTexto 15">
            <a:extLst>
              <a:ext uri="{FF2B5EF4-FFF2-40B4-BE49-F238E27FC236}">
                <a16:creationId xmlns:a16="http://schemas.microsoft.com/office/drawing/2014/main" id="{DAE873C4-CA9D-458C-8194-F8417A60D107}"/>
              </a:ext>
            </a:extLst>
          </p:cNvPr>
          <p:cNvSpPr txBox="1"/>
          <p:nvPr/>
        </p:nvSpPr>
        <p:spPr>
          <a:xfrm>
            <a:off x="981844" y="1317541"/>
            <a:ext cx="6096000" cy="400110"/>
          </a:xfrm>
          <a:prstGeom prst="rect">
            <a:avLst/>
          </a:prstGeom>
          <a:noFill/>
        </p:spPr>
        <p:txBody>
          <a:bodyPr wrap="square">
            <a:spAutoFit/>
          </a:bodyPr>
          <a:lstStyle/>
          <a:p>
            <a:r>
              <a:rPr lang="es-PE" sz="2000" dirty="0">
                <a:latin typeface="Antique Olive" panose="020B0603020204030204"/>
              </a:rPr>
              <a:t>Muestra el estado actual del repositorio.</a:t>
            </a:r>
          </a:p>
        </p:txBody>
      </p:sp>
      <p:sp>
        <p:nvSpPr>
          <p:cNvPr id="4" name="Lágrima 3">
            <a:extLst>
              <a:ext uri="{FF2B5EF4-FFF2-40B4-BE49-F238E27FC236}">
                <a16:creationId xmlns:a16="http://schemas.microsoft.com/office/drawing/2014/main" id="{4EEB13D8-8A17-4C39-AC0E-DD786EF899B3}"/>
              </a:ext>
            </a:extLst>
          </p:cNvPr>
          <p:cNvSpPr/>
          <p:nvPr/>
        </p:nvSpPr>
        <p:spPr>
          <a:xfrm>
            <a:off x="477788" y="1011778"/>
            <a:ext cx="288032" cy="216024"/>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CuadroTexto 20">
            <a:extLst>
              <a:ext uri="{FF2B5EF4-FFF2-40B4-BE49-F238E27FC236}">
                <a16:creationId xmlns:a16="http://schemas.microsoft.com/office/drawing/2014/main" id="{E235A4AD-D553-42D8-AAAF-A9BA5BF9EB4C}"/>
              </a:ext>
            </a:extLst>
          </p:cNvPr>
          <p:cNvSpPr txBox="1"/>
          <p:nvPr/>
        </p:nvSpPr>
        <p:spPr>
          <a:xfrm>
            <a:off x="981844" y="1762505"/>
            <a:ext cx="6096000" cy="1015663"/>
          </a:xfrm>
          <a:prstGeom prst="rect">
            <a:avLst/>
          </a:prstGeom>
          <a:noFill/>
        </p:spPr>
        <p:txBody>
          <a:bodyPr wrap="square">
            <a:spAutoFit/>
          </a:bodyPr>
          <a:lstStyle/>
          <a:p>
            <a:pPr algn="just"/>
            <a:r>
              <a:rPr lang="es-PE" sz="2000" dirty="0">
                <a:latin typeface="Antique Olive" panose="020B0603020204030204"/>
              </a:rPr>
              <a:t>Al momento de dar uso al comando nos mostrará los archivos no rastreados, archivos modificados y archivos listos para </a:t>
            </a:r>
            <a:r>
              <a:rPr lang="es-PE" sz="2000" dirty="0" err="1">
                <a:latin typeface="Antique Olive" panose="020B0603020204030204"/>
              </a:rPr>
              <a:t>commit</a:t>
            </a:r>
            <a:r>
              <a:rPr lang="es-PE" sz="2000" dirty="0">
                <a:latin typeface="Antique Olive" panose="020B0603020204030204"/>
              </a:rPr>
              <a:t>.</a:t>
            </a:r>
          </a:p>
        </p:txBody>
      </p:sp>
      <p:sp>
        <p:nvSpPr>
          <p:cNvPr id="22" name="CuadroTexto 21">
            <a:extLst>
              <a:ext uri="{FF2B5EF4-FFF2-40B4-BE49-F238E27FC236}">
                <a16:creationId xmlns:a16="http://schemas.microsoft.com/office/drawing/2014/main" id="{160E6AEA-E84C-4B93-B37E-01142A1A9EE6}"/>
              </a:ext>
            </a:extLst>
          </p:cNvPr>
          <p:cNvSpPr txBox="1"/>
          <p:nvPr/>
        </p:nvSpPr>
        <p:spPr>
          <a:xfrm>
            <a:off x="981844" y="2823022"/>
            <a:ext cx="1224136" cy="400110"/>
          </a:xfrm>
          <a:prstGeom prst="rect">
            <a:avLst/>
          </a:prstGeom>
          <a:noFill/>
        </p:spPr>
        <p:txBody>
          <a:bodyPr wrap="square">
            <a:spAutoFit/>
          </a:bodyPr>
          <a:lstStyle/>
          <a:p>
            <a:r>
              <a:rPr lang="es-PE" sz="2000" b="1" dirty="0">
                <a:solidFill>
                  <a:schemeClr val="accent5"/>
                </a:solidFill>
                <a:latin typeface="Antique Olive" panose="020B0603020204030204"/>
              </a:rPr>
              <a:t>Ejemplo</a:t>
            </a:r>
          </a:p>
        </p:txBody>
      </p:sp>
      <p:sp>
        <p:nvSpPr>
          <p:cNvPr id="23" name="CuadroTexto 22">
            <a:extLst>
              <a:ext uri="{FF2B5EF4-FFF2-40B4-BE49-F238E27FC236}">
                <a16:creationId xmlns:a16="http://schemas.microsoft.com/office/drawing/2014/main" id="{F031D268-67B3-440D-BCE3-EF257CE818D4}"/>
              </a:ext>
            </a:extLst>
          </p:cNvPr>
          <p:cNvSpPr txBox="1"/>
          <p:nvPr/>
        </p:nvSpPr>
        <p:spPr>
          <a:xfrm>
            <a:off x="981844" y="3251997"/>
            <a:ext cx="6096000"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status</a:t>
            </a:r>
          </a:p>
        </p:txBody>
      </p:sp>
      <p:pic>
        <p:nvPicPr>
          <p:cNvPr id="3" name="Imagen 2">
            <a:extLst>
              <a:ext uri="{FF2B5EF4-FFF2-40B4-BE49-F238E27FC236}">
                <a16:creationId xmlns:a16="http://schemas.microsoft.com/office/drawing/2014/main" id="{BE486959-241C-489B-9179-0A09BAB1E9C9}"/>
              </a:ext>
            </a:extLst>
          </p:cNvPr>
          <p:cNvPicPr>
            <a:picLocks noChangeAspect="1"/>
          </p:cNvPicPr>
          <p:nvPr/>
        </p:nvPicPr>
        <p:blipFill>
          <a:blip r:embed="rId4"/>
          <a:stretch>
            <a:fillRect/>
          </a:stretch>
        </p:blipFill>
        <p:spPr>
          <a:xfrm>
            <a:off x="1053852" y="3696961"/>
            <a:ext cx="5734850" cy="2324424"/>
          </a:xfrm>
          <a:prstGeom prst="rect">
            <a:avLst/>
          </a:prstGeom>
        </p:spPr>
      </p:pic>
    </p:spTree>
    <p:extLst>
      <p:ext uri="{BB962C8B-B14F-4D97-AF65-F5344CB8AC3E}">
        <p14:creationId xmlns:p14="http://schemas.microsoft.com/office/powerpoint/2010/main" val="428557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pic>
        <p:nvPicPr>
          <p:cNvPr id="9" name="Imagen 8">
            <a:extLst>
              <a:ext uri="{FF2B5EF4-FFF2-40B4-BE49-F238E27FC236}">
                <a16:creationId xmlns:a16="http://schemas.microsoft.com/office/drawing/2014/main" id="{C247A5F9-3532-456D-B887-ACA1489E1685}"/>
              </a:ext>
            </a:extLst>
          </p:cNvPr>
          <p:cNvPicPr>
            <a:picLocks noChangeAspect="1"/>
          </p:cNvPicPr>
          <p:nvPr/>
        </p:nvPicPr>
        <p:blipFill>
          <a:blip r:embed="rId3"/>
          <a:stretch>
            <a:fillRect/>
          </a:stretch>
        </p:blipFill>
        <p:spPr>
          <a:xfrm>
            <a:off x="9046740" y="1962560"/>
            <a:ext cx="2864140" cy="2932880"/>
          </a:xfrm>
          <a:prstGeom prst="rect">
            <a:avLst/>
          </a:prstGeom>
        </p:spPr>
      </p:pic>
      <p:sp>
        <p:nvSpPr>
          <p:cNvPr id="14" name="CuadroTexto 13">
            <a:extLst>
              <a:ext uri="{FF2B5EF4-FFF2-40B4-BE49-F238E27FC236}">
                <a16:creationId xmlns:a16="http://schemas.microsoft.com/office/drawing/2014/main" id="{89FF37E1-5BB9-465D-81A9-01E91AFD44E2}"/>
              </a:ext>
            </a:extLst>
          </p:cNvPr>
          <p:cNvSpPr txBox="1"/>
          <p:nvPr/>
        </p:nvSpPr>
        <p:spPr>
          <a:xfrm>
            <a:off x="765820" y="855876"/>
            <a:ext cx="1584176" cy="461665"/>
          </a:xfrm>
          <a:prstGeom prst="rect">
            <a:avLst/>
          </a:prstGeom>
          <a:noFill/>
        </p:spPr>
        <p:txBody>
          <a:bodyPr wrap="square">
            <a:spAutoFit/>
          </a:bodyPr>
          <a:lstStyle/>
          <a:p>
            <a:r>
              <a:rPr lang="es-PE" b="1" dirty="0" err="1">
                <a:solidFill>
                  <a:schemeClr val="accent5"/>
                </a:solidFill>
                <a:latin typeface="Antique Olive" panose="020B0603020204030204"/>
              </a:rPr>
              <a:t>git</a:t>
            </a:r>
            <a:r>
              <a:rPr lang="es-PE" b="1" dirty="0">
                <a:solidFill>
                  <a:schemeClr val="accent5"/>
                </a:solidFill>
                <a:latin typeface="Antique Olive" panose="020B0603020204030204"/>
              </a:rPr>
              <a:t> </a:t>
            </a:r>
            <a:r>
              <a:rPr lang="es-PE" b="1" dirty="0" err="1">
                <a:solidFill>
                  <a:schemeClr val="accent5"/>
                </a:solidFill>
                <a:latin typeface="Antique Olive" panose="020B0603020204030204"/>
              </a:rPr>
              <a:t>add</a:t>
            </a:r>
            <a:endParaRPr lang="es-PE" b="1" dirty="0">
              <a:solidFill>
                <a:schemeClr val="accent5"/>
              </a:solidFill>
              <a:latin typeface="Antique Olive" panose="020B0603020204030204"/>
            </a:endParaRPr>
          </a:p>
        </p:txBody>
      </p:sp>
      <p:sp>
        <p:nvSpPr>
          <p:cNvPr id="16" name="CuadroTexto 15">
            <a:extLst>
              <a:ext uri="{FF2B5EF4-FFF2-40B4-BE49-F238E27FC236}">
                <a16:creationId xmlns:a16="http://schemas.microsoft.com/office/drawing/2014/main" id="{DAE873C4-CA9D-458C-8194-F8417A60D107}"/>
              </a:ext>
            </a:extLst>
          </p:cNvPr>
          <p:cNvSpPr txBox="1"/>
          <p:nvPr/>
        </p:nvSpPr>
        <p:spPr>
          <a:xfrm>
            <a:off x="981844" y="1317541"/>
            <a:ext cx="6096000" cy="400110"/>
          </a:xfrm>
          <a:prstGeom prst="rect">
            <a:avLst/>
          </a:prstGeom>
          <a:noFill/>
        </p:spPr>
        <p:txBody>
          <a:bodyPr wrap="square">
            <a:spAutoFit/>
          </a:bodyPr>
          <a:lstStyle/>
          <a:p>
            <a:r>
              <a:rPr lang="es-PE" sz="2000" dirty="0">
                <a:latin typeface="Antique Olive" panose="020B0603020204030204"/>
              </a:rPr>
              <a:t>Envía cambios al </a:t>
            </a:r>
            <a:r>
              <a:rPr lang="es-PE" sz="2000" dirty="0" err="1">
                <a:latin typeface="Antique Olive" panose="020B0603020204030204"/>
              </a:rPr>
              <a:t>staging</a:t>
            </a:r>
            <a:r>
              <a:rPr lang="es-PE" sz="2000" dirty="0">
                <a:latin typeface="Antique Olive" panose="020B0603020204030204"/>
              </a:rPr>
              <a:t> área.</a:t>
            </a:r>
          </a:p>
        </p:txBody>
      </p:sp>
      <p:sp>
        <p:nvSpPr>
          <p:cNvPr id="4" name="Lágrima 3">
            <a:extLst>
              <a:ext uri="{FF2B5EF4-FFF2-40B4-BE49-F238E27FC236}">
                <a16:creationId xmlns:a16="http://schemas.microsoft.com/office/drawing/2014/main" id="{4EEB13D8-8A17-4C39-AC0E-DD786EF899B3}"/>
              </a:ext>
            </a:extLst>
          </p:cNvPr>
          <p:cNvSpPr/>
          <p:nvPr/>
        </p:nvSpPr>
        <p:spPr>
          <a:xfrm>
            <a:off x="477788" y="1011778"/>
            <a:ext cx="288032" cy="216024"/>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CuadroTexto 21">
            <a:extLst>
              <a:ext uri="{FF2B5EF4-FFF2-40B4-BE49-F238E27FC236}">
                <a16:creationId xmlns:a16="http://schemas.microsoft.com/office/drawing/2014/main" id="{160E6AEA-E84C-4B93-B37E-01142A1A9EE6}"/>
              </a:ext>
            </a:extLst>
          </p:cNvPr>
          <p:cNvSpPr txBox="1"/>
          <p:nvPr/>
        </p:nvSpPr>
        <p:spPr>
          <a:xfrm>
            <a:off x="945840" y="2710660"/>
            <a:ext cx="1224136" cy="400110"/>
          </a:xfrm>
          <a:prstGeom prst="rect">
            <a:avLst/>
          </a:prstGeom>
          <a:noFill/>
        </p:spPr>
        <p:txBody>
          <a:bodyPr wrap="square">
            <a:spAutoFit/>
          </a:bodyPr>
          <a:lstStyle/>
          <a:p>
            <a:r>
              <a:rPr lang="es-PE" sz="2000" b="1" dirty="0">
                <a:solidFill>
                  <a:schemeClr val="accent5"/>
                </a:solidFill>
                <a:latin typeface="Antique Olive" panose="020B0603020204030204"/>
              </a:rPr>
              <a:t>Ejemplo</a:t>
            </a:r>
          </a:p>
        </p:txBody>
      </p:sp>
      <p:sp>
        <p:nvSpPr>
          <p:cNvPr id="23" name="CuadroTexto 22">
            <a:extLst>
              <a:ext uri="{FF2B5EF4-FFF2-40B4-BE49-F238E27FC236}">
                <a16:creationId xmlns:a16="http://schemas.microsoft.com/office/drawing/2014/main" id="{F031D268-67B3-440D-BCE3-EF257CE818D4}"/>
              </a:ext>
            </a:extLst>
          </p:cNvPr>
          <p:cNvSpPr txBox="1"/>
          <p:nvPr/>
        </p:nvSpPr>
        <p:spPr>
          <a:xfrm>
            <a:off x="945840" y="3092308"/>
            <a:ext cx="3060340"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a:t>
            </a:r>
            <a:r>
              <a:rPr lang="es-PE" sz="2000" dirty="0" err="1">
                <a:latin typeface="Antique Olive" panose="020B0603020204030204"/>
              </a:rPr>
              <a:t>add</a:t>
            </a:r>
            <a:r>
              <a:rPr lang="es-PE" sz="2000" dirty="0">
                <a:latin typeface="Antique Olive" panose="020B0603020204030204"/>
              </a:rPr>
              <a:t> “</a:t>
            </a:r>
            <a:r>
              <a:rPr lang="es-PE" sz="2000" dirty="0" err="1">
                <a:latin typeface="Antique Olive" panose="020B0603020204030204"/>
              </a:rPr>
              <a:t>nombreArchivo</a:t>
            </a:r>
            <a:r>
              <a:rPr lang="es-PE" sz="2000" dirty="0">
                <a:latin typeface="Antique Olive" panose="020B0603020204030204"/>
              </a:rPr>
              <a:t>”</a:t>
            </a:r>
          </a:p>
        </p:txBody>
      </p:sp>
      <p:sp>
        <p:nvSpPr>
          <p:cNvPr id="11" name="CuadroTexto 10">
            <a:extLst>
              <a:ext uri="{FF2B5EF4-FFF2-40B4-BE49-F238E27FC236}">
                <a16:creationId xmlns:a16="http://schemas.microsoft.com/office/drawing/2014/main" id="{4756D43B-6640-4217-86EA-E60066A9A16A}"/>
              </a:ext>
            </a:extLst>
          </p:cNvPr>
          <p:cNvSpPr txBox="1"/>
          <p:nvPr/>
        </p:nvSpPr>
        <p:spPr>
          <a:xfrm>
            <a:off x="981844" y="1694997"/>
            <a:ext cx="6096000" cy="1015663"/>
          </a:xfrm>
          <a:prstGeom prst="rect">
            <a:avLst/>
          </a:prstGeom>
          <a:noFill/>
        </p:spPr>
        <p:txBody>
          <a:bodyPr wrap="square">
            <a:spAutoFit/>
          </a:bodyPr>
          <a:lstStyle/>
          <a:p>
            <a:pPr algn="just"/>
            <a:r>
              <a:rPr lang="es-PE" sz="2000" dirty="0">
                <a:latin typeface="Antique Olive" panose="020B0603020204030204"/>
              </a:rPr>
              <a:t>Este comando se puede utilizar de dos maneras: para enviar cambios de un archivo y para enviar los cambios realizados a todo un conjunto de archivos.</a:t>
            </a:r>
          </a:p>
        </p:txBody>
      </p:sp>
      <p:sp>
        <p:nvSpPr>
          <p:cNvPr id="12" name="CuadroTexto 11">
            <a:extLst>
              <a:ext uri="{FF2B5EF4-FFF2-40B4-BE49-F238E27FC236}">
                <a16:creationId xmlns:a16="http://schemas.microsoft.com/office/drawing/2014/main" id="{7DA58B1E-916A-46FD-A1BD-D268AA1C8C4E}"/>
              </a:ext>
            </a:extLst>
          </p:cNvPr>
          <p:cNvSpPr txBox="1"/>
          <p:nvPr/>
        </p:nvSpPr>
        <p:spPr>
          <a:xfrm>
            <a:off x="925960" y="3492418"/>
            <a:ext cx="3060340"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a:t>
            </a:r>
            <a:r>
              <a:rPr lang="es-PE" sz="2000" dirty="0" err="1">
                <a:latin typeface="Antique Olive" panose="020B0603020204030204"/>
              </a:rPr>
              <a:t>add</a:t>
            </a:r>
            <a:r>
              <a:rPr lang="es-PE" sz="2000" dirty="0">
                <a:latin typeface="Antique Olive" panose="020B0603020204030204"/>
              </a:rPr>
              <a:t> .</a:t>
            </a:r>
          </a:p>
        </p:txBody>
      </p:sp>
      <p:sp>
        <p:nvSpPr>
          <p:cNvPr id="13" name="CuadroTexto 12">
            <a:extLst>
              <a:ext uri="{FF2B5EF4-FFF2-40B4-BE49-F238E27FC236}">
                <a16:creationId xmlns:a16="http://schemas.microsoft.com/office/drawing/2014/main" id="{5F2DE8FA-F1B2-4637-A221-05A23E1C7C06}"/>
              </a:ext>
            </a:extLst>
          </p:cNvPr>
          <p:cNvSpPr txBox="1"/>
          <p:nvPr/>
        </p:nvSpPr>
        <p:spPr>
          <a:xfrm>
            <a:off x="765820" y="3919876"/>
            <a:ext cx="1584176" cy="461665"/>
          </a:xfrm>
          <a:prstGeom prst="rect">
            <a:avLst/>
          </a:prstGeom>
          <a:noFill/>
        </p:spPr>
        <p:txBody>
          <a:bodyPr wrap="square">
            <a:spAutoFit/>
          </a:bodyPr>
          <a:lstStyle/>
          <a:p>
            <a:r>
              <a:rPr lang="es-PE" b="1" dirty="0" err="1">
                <a:solidFill>
                  <a:schemeClr val="accent5"/>
                </a:solidFill>
                <a:latin typeface="Antique Olive" panose="020B0603020204030204"/>
              </a:rPr>
              <a:t>git</a:t>
            </a:r>
            <a:r>
              <a:rPr lang="es-PE" b="1" dirty="0">
                <a:solidFill>
                  <a:schemeClr val="accent5"/>
                </a:solidFill>
                <a:latin typeface="Antique Olive" panose="020B0603020204030204"/>
              </a:rPr>
              <a:t> </a:t>
            </a:r>
            <a:r>
              <a:rPr lang="es-PE" b="1" dirty="0" err="1">
                <a:solidFill>
                  <a:schemeClr val="accent5"/>
                </a:solidFill>
                <a:latin typeface="Antique Olive" panose="020B0603020204030204"/>
              </a:rPr>
              <a:t>commit</a:t>
            </a:r>
            <a:endParaRPr lang="es-PE" b="1" dirty="0">
              <a:solidFill>
                <a:schemeClr val="accent5"/>
              </a:solidFill>
              <a:latin typeface="Antique Olive" panose="020B0603020204030204"/>
            </a:endParaRPr>
          </a:p>
        </p:txBody>
      </p:sp>
      <p:sp>
        <p:nvSpPr>
          <p:cNvPr id="15" name="Lágrima 14">
            <a:extLst>
              <a:ext uri="{FF2B5EF4-FFF2-40B4-BE49-F238E27FC236}">
                <a16:creationId xmlns:a16="http://schemas.microsoft.com/office/drawing/2014/main" id="{5BD067A1-53D7-455B-8145-109BEDF3EC62}"/>
              </a:ext>
            </a:extLst>
          </p:cNvPr>
          <p:cNvSpPr/>
          <p:nvPr/>
        </p:nvSpPr>
        <p:spPr>
          <a:xfrm>
            <a:off x="477788" y="4075778"/>
            <a:ext cx="288032" cy="216024"/>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CuadroTexto 16">
            <a:extLst>
              <a:ext uri="{FF2B5EF4-FFF2-40B4-BE49-F238E27FC236}">
                <a16:creationId xmlns:a16="http://schemas.microsoft.com/office/drawing/2014/main" id="{FF54E977-F16A-45DC-873D-964523D2B8FA}"/>
              </a:ext>
            </a:extLst>
          </p:cNvPr>
          <p:cNvSpPr txBox="1"/>
          <p:nvPr/>
        </p:nvSpPr>
        <p:spPr>
          <a:xfrm>
            <a:off x="925960" y="4293096"/>
            <a:ext cx="6096000" cy="400110"/>
          </a:xfrm>
          <a:prstGeom prst="rect">
            <a:avLst/>
          </a:prstGeom>
          <a:noFill/>
        </p:spPr>
        <p:txBody>
          <a:bodyPr wrap="square">
            <a:spAutoFit/>
          </a:bodyPr>
          <a:lstStyle/>
          <a:p>
            <a:r>
              <a:rPr lang="es-PE" sz="2000" dirty="0">
                <a:latin typeface="Antique Olive" panose="020B0603020204030204"/>
              </a:rPr>
              <a:t>Crea una fotografía lógica del proyecto.</a:t>
            </a:r>
          </a:p>
        </p:txBody>
      </p:sp>
      <p:sp>
        <p:nvSpPr>
          <p:cNvPr id="18" name="CuadroTexto 17">
            <a:extLst>
              <a:ext uri="{FF2B5EF4-FFF2-40B4-BE49-F238E27FC236}">
                <a16:creationId xmlns:a16="http://schemas.microsoft.com/office/drawing/2014/main" id="{E897B21F-ACD8-4156-B8B9-04A64E003653}"/>
              </a:ext>
            </a:extLst>
          </p:cNvPr>
          <p:cNvSpPr txBox="1"/>
          <p:nvPr/>
        </p:nvSpPr>
        <p:spPr>
          <a:xfrm>
            <a:off x="945840" y="4591458"/>
            <a:ext cx="1224136" cy="400110"/>
          </a:xfrm>
          <a:prstGeom prst="rect">
            <a:avLst/>
          </a:prstGeom>
          <a:noFill/>
        </p:spPr>
        <p:txBody>
          <a:bodyPr wrap="square">
            <a:spAutoFit/>
          </a:bodyPr>
          <a:lstStyle/>
          <a:p>
            <a:r>
              <a:rPr lang="es-PE" sz="2000" b="1" dirty="0">
                <a:solidFill>
                  <a:schemeClr val="accent5"/>
                </a:solidFill>
                <a:latin typeface="Antique Olive" panose="020B0603020204030204"/>
              </a:rPr>
              <a:t>Ejemplo</a:t>
            </a:r>
          </a:p>
        </p:txBody>
      </p:sp>
      <p:sp>
        <p:nvSpPr>
          <p:cNvPr id="19" name="CuadroTexto 18">
            <a:extLst>
              <a:ext uri="{FF2B5EF4-FFF2-40B4-BE49-F238E27FC236}">
                <a16:creationId xmlns:a16="http://schemas.microsoft.com/office/drawing/2014/main" id="{7B8AC92E-E113-4391-BEBC-0EA1F59DC1D8}"/>
              </a:ext>
            </a:extLst>
          </p:cNvPr>
          <p:cNvSpPr txBox="1"/>
          <p:nvPr/>
        </p:nvSpPr>
        <p:spPr>
          <a:xfrm>
            <a:off x="945840" y="4973106"/>
            <a:ext cx="6732748"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a:t>
            </a:r>
            <a:r>
              <a:rPr lang="es-PE" sz="2000" dirty="0" err="1">
                <a:latin typeface="Antique Olive" panose="020B0603020204030204"/>
              </a:rPr>
              <a:t>commit</a:t>
            </a:r>
            <a:r>
              <a:rPr lang="es-PE" sz="2000" dirty="0">
                <a:latin typeface="Antique Olive" panose="020B0603020204030204"/>
              </a:rPr>
              <a:t> –m “Agregar la estructura inicial del index.html” </a:t>
            </a:r>
          </a:p>
        </p:txBody>
      </p:sp>
      <p:sp>
        <p:nvSpPr>
          <p:cNvPr id="20" name="CuadroTexto 19">
            <a:extLst>
              <a:ext uri="{FF2B5EF4-FFF2-40B4-BE49-F238E27FC236}">
                <a16:creationId xmlns:a16="http://schemas.microsoft.com/office/drawing/2014/main" id="{0BB26AC2-6030-4B95-A30E-A1BCC54FDE7E}"/>
              </a:ext>
            </a:extLst>
          </p:cNvPr>
          <p:cNvSpPr txBox="1"/>
          <p:nvPr/>
        </p:nvSpPr>
        <p:spPr>
          <a:xfrm>
            <a:off x="945840" y="5474964"/>
            <a:ext cx="9973108" cy="400110"/>
          </a:xfrm>
          <a:prstGeom prst="rect">
            <a:avLst/>
          </a:prstGeom>
          <a:noFill/>
        </p:spPr>
        <p:txBody>
          <a:bodyPr wrap="square">
            <a:spAutoFit/>
          </a:bodyPr>
          <a:lstStyle/>
          <a:p>
            <a:pPr algn="just"/>
            <a:r>
              <a:rPr lang="es-PE" sz="2000" b="1" dirty="0">
                <a:solidFill>
                  <a:schemeClr val="accent6"/>
                </a:solidFill>
                <a:latin typeface="Antique Olive" panose="020B0603020204030204"/>
              </a:rPr>
              <a:t>Ojo: un </a:t>
            </a:r>
            <a:r>
              <a:rPr lang="es-PE" sz="2000" b="1" dirty="0" err="1">
                <a:solidFill>
                  <a:schemeClr val="accent6"/>
                </a:solidFill>
                <a:latin typeface="Antique Olive" panose="020B0603020204030204"/>
              </a:rPr>
              <a:t>commit</a:t>
            </a:r>
            <a:r>
              <a:rPr lang="es-PE" sz="2000" b="1" dirty="0">
                <a:solidFill>
                  <a:schemeClr val="accent6"/>
                </a:solidFill>
                <a:latin typeface="Antique Olive" panose="020B0603020204030204"/>
              </a:rPr>
              <a:t> no es guardar un archivo, sino registrar una unidad coherente de cambio.</a:t>
            </a:r>
          </a:p>
        </p:txBody>
      </p:sp>
    </p:spTree>
    <p:extLst>
      <p:ext uri="{BB962C8B-B14F-4D97-AF65-F5344CB8AC3E}">
        <p14:creationId xmlns:p14="http://schemas.microsoft.com/office/powerpoint/2010/main" val="394052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GIT local (</a:t>
            </a:r>
            <a:r>
              <a:rPr lang="es-PE" sz="2800" b="1" dirty="0" err="1">
                <a:solidFill>
                  <a:schemeClr val="accent5"/>
                </a:solidFill>
                <a:latin typeface="Antique Olive"/>
              </a:rPr>
              <a:t>init</a:t>
            </a:r>
            <a:r>
              <a:rPr lang="es-PE" sz="2800" b="1" dirty="0">
                <a:solidFill>
                  <a:schemeClr val="accent5"/>
                </a:solidFill>
                <a:latin typeface="Antique Olive"/>
              </a:rPr>
              <a:t>, status, </a:t>
            </a:r>
            <a:r>
              <a:rPr lang="es-PE" sz="2800" b="1" dirty="0" err="1">
                <a:solidFill>
                  <a:schemeClr val="accent5"/>
                </a:solidFill>
                <a:latin typeface="Antique Olive"/>
              </a:rPr>
              <a:t>add</a:t>
            </a:r>
            <a:r>
              <a:rPr lang="es-PE" sz="2800" b="1" dirty="0">
                <a:solidFill>
                  <a:schemeClr val="accent5"/>
                </a:solidFill>
                <a:latin typeface="Antique Olive"/>
              </a:rPr>
              <a:t>, </a:t>
            </a:r>
            <a:r>
              <a:rPr lang="es-PE" sz="2800" b="1" dirty="0" err="1">
                <a:solidFill>
                  <a:schemeClr val="accent5"/>
                </a:solidFill>
                <a:latin typeface="Antique Olive"/>
              </a:rPr>
              <a:t>commit</a:t>
            </a:r>
            <a:r>
              <a:rPr lang="es-PE" sz="2800" b="1" dirty="0">
                <a:solidFill>
                  <a:schemeClr val="accent5"/>
                </a:solidFill>
                <a:latin typeface="Antique Olive"/>
              </a:rPr>
              <a:t>, log</a:t>
            </a:r>
          </a:p>
        </p:txBody>
      </p:sp>
      <p:pic>
        <p:nvPicPr>
          <p:cNvPr id="9" name="Imagen 8">
            <a:extLst>
              <a:ext uri="{FF2B5EF4-FFF2-40B4-BE49-F238E27FC236}">
                <a16:creationId xmlns:a16="http://schemas.microsoft.com/office/drawing/2014/main" id="{C247A5F9-3532-456D-B887-ACA1489E1685}"/>
              </a:ext>
            </a:extLst>
          </p:cNvPr>
          <p:cNvPicPr>
            <a:picLocks noChangeAspect="1"/>
          </p:cNvPicPr>
          <p:nvPr/>
        </p:nvPicPr>
        <p:blipFill>
          <a:blip r:embed="rId3"/>
          <a:stretch>
            <a:fillRect/>
          </a:stretch>
        </p:blipFill>
        <p:spPr>
          <a:xfrm>
            <a:off x="9046740" y="1962560"/>
            <a:ext cx="2864140" cy="2932880"/>
          </a:xfrm>
          <a:prstGeom prst="rect">
            <a:avLst/>
          </a:prstGeom>
        </p:spPr>
      </p:pic>
      <p:sp>
        <p:nvSpPr>
          <p:cNvPr id="14" name="CuadroTexto 13">
            <a:extLst>
              <a:ext uri="{FF2B5EF4-FFF2-40B4-BE49-F238E27FC236}">
                <a16:creationId xmlns:a16="http://schemas.microsoft.com/office/drawing/2014/main" id="{89FF37E1-5BB9-465D-81A9-01E91AFD44E2}"/>
              </a:ext>
            </a:extLst>
          </p:cNvPr>
          <p:cNvSpPr txBox="1"/>
          <p:nvPr/>
        </p:nvSpPr>
        <p:spPr>
          <a:xfrm>
            <a:off x="765820" y="855876"/>
            <a:ext cx="1584176" cy="461665"/>
          </a:xfrm>
          <a:prstGeom prst="rect">
            <a:avLst/>
          </a:prstGeom>
          <a:noFill/>
        </p:spPr>
        <p:txBody>
          <a:bodyPr wrap="square">
            <a:spAutoFit/>
          </a:bodyPr>
          <a:lstStyle/>
          <a:p>
            <a:r>
              <a:rPr lang="es-PE" b="1" dirty="0" err="1">
                <a:solidFill>
                  <a:schemeClr val="accent5"/>
                </a:solidFill>
                <a:latin typeface="Antique Olive" panose="020B0603020204030204"/>
              </a:rPr>
              <a:t>git</a:t>
            </a:r>
            <a:r>
              <a:rPr lang="es-PE" b="1" dirty="0">
                <a:solidFill>
                  <a:schemeClr val="accent5"/>
                </a:solidFill>
                <a:latin typeface="Antique Olive" panose="020B0603020204030204"/>
              </a:rPr>
              <a:t> log</a:t>
            </a:r>
          </a:p>
        </p:txBody>
      </p:sp>
      <p:sp>
        <p:nvSpPr>
          <p:cNvPr id="16" name="CuadroTexto 15">
            <a:extLst>
              <a:ext uri="{FF2B5EF4-FFF2-40B4-BE49-F238E27FC236}">
                <a16:creationId xmlns:a16="http://schemas.microsoft.com/office/drawing/2014/main" id="{DAE873C4-CA9D-458C-8194-F8417A60D107}"/>
              </a:ext>
            </a:extLst>
          </p:cNvPr>
          <p:cNvSpPr txBox="1"/>
          <p:nvPr/>
        </p:nvSpPr>
        <p:spPr>
          <a:xfrm>
            <a:off x="981844" y="1317541"/>
            <a:ext cx="6096000" cy="400110"/>
          </a:xfrm>
          <a:prstGeom prst="rect">
            <a:avLst/>
          </a:prstGeom>
          <a:noFill/>
        </p:spPr>
        <p:txBody>
          <a:bodyPr wrap="square">
            <a:spAutoFit/>
          </a:bodyPr>
          <a:lstStyle/>
          <a:p>
            <a:r>
              <a:rPr lang="es-PE" sz="2000" dirty="0">
                <a:latin typeface="Antique Olive" panose="020B0603020204030204"/>
              </a:rPr>
              <a:t>Muestra el historial de </a:t>
            </a:r>
            <a:r>
              <a:rPr lang="es-PE" sz="2000" dirty="0" err="1">
                <a:latin typeface="Antique Olive" panose="020B0603020204030204"/>
              </a:rPr>
              <a:t>commits</a:t>
            </a:r>
            <a:r>
              <a:rPr lang="es-PE" sz="2000" dirty="0">
                <a:latin typeface="Antique Olive" panose="020B0603020204030204"/>
              </a:rPr>
              <a:t>.</a:t>
            </a:r>
          </a:p>
        </p:txBody>
      </p:sp>
      <p:sp>
        <p:nvSpPr>
          <p:cNvPr id="4" name="Lágrima 3">
            <a:extLst>
              <a:ext uri="{FF2B5EF4-FFF2-40B4-BE49-F238E27FC236}">
                <a16:creationId xmlns:a16="http://schemas.microsoft.com/office/drawing/2014/main" id="{4EEB13D8-8A17-4C39-AC0E-DD786EF899B3}"/>
              </a:ext>
            </a:extLst>
          </p:cNvPr>
          <p:cNvSpPr/>
          <p:nvPr/>
        </p:nvSpPr>
        <p:spPr>
          <a:xfrm>
            <a:off x="477788" y="1011778"/>
            <a:ext cx="288032" cy="216024"/>
          </a:xfrm>
          <a:prstGeom prst="teardrop">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CuadroTexto 21">
            <a:extLst>
              <a:ext uri="{FF2B5EF4-FFF2-40B4-BE49-F238E27FC236}">
                <a16:creationId xmlns:a16="http://schemas.microsoft.com/office/drawing/2014/main" id="{160E6AEA-E84C-4B93-B37E-01142A1A9EE6}"/>
              </a:ext>
            </a:extLst>
          </p:cNvPr>
          <p:cNvSpPr txBox="1"/>
          <p:nvPr/>
        </p:nvSpPr>
        <p:spPr>
          <a:xfrm>
            <a:off x="945840" y="1671068"/>
            <a:ext cx="1224136" cy="400110"/>
          </a:xfrm>
          <a:prstGeom prst="rect">
            <a:avLst/>
          </a:prstGeom>
          <a:noFill/>
        </p:spPr>
        <p:txBody>
          <a:bodyPr wrap="square">
            <a:spAutoFit/>
          </a:bodyPr>
          <a:lstStyle/>
          <a:p>
            <a:r>
              <a:rPr lang="es-PE" sz="2000" b="1" dirty="0">
                <a:solidFill>
                  <a:schemeClr val="accent5"/>
                </a:solidFill>
                <a:latin typeface="Antique Olive" panose="020B0603020204030204"/>
              </a:rPr>
              <a:t>Ejemplo</a:t>
            </a:r>
          </a:p>
        </p:txBody>
      </p:sp>
      <p:sp>
        <p:nvSpPr>
          <p:cNvPr id="23" name="CuadroTexto 22">
            <a:extLst>
              <a:ext uri="{FF2B5EF4-FFF2-40B4-BE49-F238E27FC236}">
                <a16:creationId xmlns:a16="http://schemas.microsoft.com/office/drawing/2014/main" id="{F031D268-67B3-440D-BCE3-EF257CE818D4}"/>
              </a:ext>
            </a:extLst>
          </p:cNvPr>
          <p:cNvSpPr txBox="1"/>
          <p:nvPr/>
        </p:nvSpPr>
        <p:spPr>
          <a:xfrm>
            <a:off x="945840" y="2052716"/>
            <a:ext cx="3060340" cy="400110"/>
          </a:xfrm>
          <a:prstGeom prst="rect">
            <a:avLst/>
          </a:prstGeom>
          <a:noFill/>
        </p:spPr>
        <p:txBody>
          <a:bodyPr wrap="square">
            <a:spAutoFit/>
          </a:bodyPr>
          <a:lstStyle/>
          <a:p>
            <a:pPr algn="just"/>
            <a:r>
              <a:rPr lang="es-PE" sz="2000" dirty="0" err="1">
                <a:latin typeface="Antique Olive" panose="020B0603020204030204"/>
              </a:rPr>
              <a:t>git</a:t>
            </a:r>
            <a:r>
              <a:rPr lang="es-PE" sz="2000" dirty="0">
                <a:latin typeface="Antique Olive" panose="020B0603020204030204"/>
              </a:rPr>
              <a:t> log</a:t>
            </a:r>
          </a:p>
        </p:txBody>
      </p:sp>
      <p:sp>
        <p:nvSpPr>
          <p:cNvPr id="25" name="CuadroTexto 24">
            <a:extLst>
              <a:ext uri="{FF2B5EF4-FFF2-40B4-BE49-F238E27FC236}">
                <a16:creationId xmlns:a16="http://schemas.microsoft.com/office/drawing/2014/main" id="{2F40C13F-0231-4784-B309-54D73E5BF5AA}"/>
              </a:ext>
            </a:extLst>
          </p:cNvPr>
          <p:cNvSpPr txBox="1"/>
          <p:nvPr/>
        </p:nvSpPr>
        <p:spPr>
          <a:xfrm>
            <a:off x="430460" y="2703016"/>
            <a:ext cx="8472264" cy="1938992"/>
          </a:xfrm>
          <a:prstGeom prst="rect">
            <a:avLst/>
          </a:prstGeom>
          <a:noFill/>
        </p:spPr>
        <p:txBody>
          <a:bodyPr wrap="square">
            <a:spAutoFit/>
          </a:bodyPr>
          <a:lstStyle/>
          <a:p>
            <a:pPr algn="just"/>
            <a:r>
              <a:rPr lang="es-MX" sz="2000" dirty="0">
                <a:latin typeface="Antique Olive" panose="020B0603020204030204"/>
              </a:rPr>
              <a:t>Los </a:t>
            </a:r>
            <a:r>
              <a:rPr lang="es-MX" sz="2000" dirty="0" err="1">
                <a:latin typeface="Antique Olive" panose="020B0603020204030204"/>
              </a:rPr>
              <a:t>commits</a:t>
            </a:r>
            <a:r>
              <a:rPr lang="es-MX" sz="2000" dirty="0">
                <a:latin typeface="Antique Olive" panose="020B0603020204030204"/>
              </a:rPr>
              <a:t> constituyen la unidad fundamental del historial de cambios en los repositorios de control de versiones, y su análisis es clave para comprender mantenimiento, evolución y clasificación de cambios en proyectos de software (Le et al. 2019). Además, Git es reconocido por su conjunto de comandos flexible y amplio, lo que lo hace poderoso pero exige una enseñanza estructurada para nuevos desarrolladores (Zhang et al. 2023).</a:t>
            </a:r>
            <a:endParaRPr lang="es-PE" sz="2000" dirty="0">
              <a:latin typeface="Antique Olive" panose="020B0603020204030204"/>
            </a:endParaRPr>
          </a:p>
        </p:txBody>
      </p:sp>
    </p:spTree>
    <p:extLst>
      <p:ext uri="{BB962C8B-B14F-4D97-AF65-F5344CB8AC3E}">
        <p14:creationId xmlns:p14="http://schemas.microsoft.com/office/powerpoint/2010/main" val="342272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Ramas (Branch) y </a:t>
            </a:r>
            <a:r>
              <a:rPr lang="es-PE" sz="2800" b="1" dirty="0" err="1">
                <a:solidFill>
                  <a:schemeClr val="accent5"/>
                </a:solidFill>
                <a:latin typeface="Antique Olive"/>
              </a:rPr>
              <a:t>merge</a:t>
            </a:r>
            <a:endParaRPr lang="es-PE" sz="2800" b="1" dirty="0">
              <a:solidFill>
                <a:schemeClr val="accent5"/>
              </a:solidFill>
              <a:latin typeface="Antique Olive"/>
            </a:endParaRPr>
          </a:p>
        </p:txBody>
      </p:sp>
      <p:sp>
        <p:nvSpPr>
          <p:cNvPr id="11" name="CuadroTexto 10">
            <a:extLst>
              <a:ext uri="{FF2B5EF4-FFF2-40B4-BE49-F238E27FC236}">
                <a16:creationId xmlns:a16="http://schemas.microsoft.com/office/drawing/2014/main" id="{23369DBA-FB29-465B-9B8A-3E101219ECB3}"/>
              </a:ext>
            </a:extLst>
          </p:cNvPr>
          <p:cNvSpPr txBox="1"/>
          <p:nvPr/>
        </p:nvSpPr>
        <p:spPr>
          <a:xfrm>
            <a:off x="477788" y="855876"/>
            <a:ext cx="6096000" cy="1631216"/>
          </a:xfrm>
          <a:prstGeom prst="rect">
            <a:avLst/>
          </a:prstGeom>
          <a:noFill/>
        </p:spPr>
        <p:txBody>
          <a:bodyPr wrap="square">
            <a:spAutoFit/>
          </a:bodyPr>
          <a:lstStyle/>
          <a:p>
            <a:pPr algn="just"/>
            <a:r>
              <a:rPr lang="es-MX" sz="2000" dirty="0">
                <a:latin typeface="Antique Olive" panose="020B0603020204030204"/>
              </a:rPr>
              <a:t>Una rama es una línea independiente de desarrollo. Las ramas permiten trabajar en diferentes líneas de desarrollo sin afectar la principal. Según </a:t>
            </a:r>
            <a:r>
              <a:rPr lang="es-MX" sz="2000" dirty="0" err="1">
                <a:latin typeface="Antique Olive" panose="020B0603020204030204"/>
              </a:rPr>
              <a:t>Bird</a:t>
            </a:r>
            <a:r>
              <a:rPr lang="es-MX" sz="2000" dirty="0">
                <a:latin typeface="Antique Olive" panose="020B0603020204030204"/>
              </a:rPr>
              <a:t> et al. (2009), el uso de ramas facilita el desarrollo paralelo y reduce conflictos en proyectos colaborativos.</a:t>
            </a:r>
            <a:endParaRPr lang="es-PE" sz="2000" dirty="0">
              <a:latin typeface="Antique Olive" panose="020B0603020204030204"/>
            </a:endParaRPr>
          </a:p>
        </p:txBody>
      </p:sp>
      <p:pic>
        <p:nvPicPr>
          <p:cNvPr id="5" name="Imagen 4">
            <a:extLst>
              <a:ext uri="{FF2B5EF4-FFF2-40B4-BE49-F238E27FC236}">
                <a16:creationId xmlns:a16="http://schemas.microsoft.com/office/drawing/2014/main" id="{7ECF1A5D-5AAA-4D12-BEFF-65A26C63C145}"/>
              </a:ext>
            </a:extLst>
          </p:cNvPr>
          <p:cNvPicPr>
            <a:picLocks noChangeAspect="1"/>
          </p:cNvPicPr>
          <p:nvPr/>
        </p:nvPicPr>
        <p:blipFill rotWithShape="1">
          <a:blip r:embed="rId3"/>
          <a:srcRect t="5796"/>
          <a:stretch/>
        </p:blipFill>
        <p:spPr>
          <a:xfrm>
            <a:off x="7040337" y="1988840"/>
            <a:ext cx="5087060" cy="1534581"/>
          </a:xfrm>
          <a:prstGeom prst="rect">
            <a:avLst/>
          </a:prstGeom>
        </p:spPr>
      </p:pic>
      <p:sp>
        <p:nvSpPr>
          <p:cNvPr id="15" name="CuadroTexto 14">
            <a:extLst>
              <a:ext uri="{FF2B5EF4-FFF2-40B4-BE49-F238E27FC236}">
                <a16:creationId xmlns:a16="http://schemas.microsoft.com/office/drawing/2014/main" id="{E384F0CE-3EB7-480F-838B-3F69454E399D}"/>
              </a:ext>
            </a:extLst>
          </p:cNvPr>
          <p:cNvSpPr txBox="1"/>
          <p:nvPr/>
        </p:nvSpPr>
        <p:spPr>
          <a:xfrm>
            <a:off x="477788" y="2556075"/>
            <a:ext cx="6096000" cy="400110"/>
          </a:xfrm>
          <a:prstGeom prst="rect">
            <a:avLst/>
          </a:prstGeom>
          <a:noFill/>
        </p:spPr>
        <p:txBody>
          <a:bodyPr wrap="square">
            <a:spAutoFit/>
          </a:bodyPr>
          <a:lstStyle/>
          <a:p>
            <a:pPr algn="just"/>
            <a:r>
              <a:rPr lang="es-MX" sz="2000" b="1" dirty="0">
                <a:solidFill>
                  <a:schemeClr val="accent6"/>
                </a:solidFill>
                <a:latin typeface="Antique Olive" panose="020B0603020204030204"/>
              </a:rPr>
              <a:t>Idea principal:</a:t>
            </a:r>
            <a:endParaRPr lang="es-PE" sz="2000" b="1" dirty="0">
              <a:solidFill>
                <a:schemeClr val="accent6"/>
              </a:solidFill>
              <a:latin typeface="Antique Olive" panose="020B0603020204030204"/>
            </a:endParaRPr>
          </a:p>
        </p:txBody>
      </p:sp>
      <p:sp>
        <p:nvSpPr>
          <p:cNvPr id="17" name="CuadroTexto 16">
            <a:extLst>
              <a:ext uri="{FF2B5EF4-FFF2-40B4-BE49-F238E27FC236}">
                <a16:creationId xmlns:a16="http://schemas.microsoft.com/office/drawing/2014/main" id="{876B886F-3966-4ABF-B381-55E3C47ADE96}"/>
              </a:ext>
            </a:extLst>
          </p:cNvPr>
          <p:cNvSpPr txBox="1"/>
          <p:nvPr/>
        </p:nvSpPr>
        <p:spPr>
          <a:xfrm>
            <a:off x="837828" y="3004842"/>
            <a:ext cx="2880320" cy="400110"/>
          </a:xfrm>
          <a:prstGeom prst="rect">
            <a:avLst/>
          </a:prstGeom>
          <a:noFill/>
        </p:spPr>
        <p:txBody>
          <a:bodyPr wrap="square">
            <a:spAutoFit/>
          </a:bodyPr>
          <a:lstStyle/>
          <a:p>
            <a:pPr algn="just"/>
            <a:r>
              <a:rPr lang="es-MX" sz="2000" dirty="0" err="1">
                <a:latin typeface="Antique Olive" panose="020B0603020204030204"/>
              </a:rPr>
              <a:t>main</a:t>
            </a:r>
            <a:r>
              <a:rPr lang="es-MX" sz="2000" dirty="0">
                <a:latin typeface="Antique Olive" panose="020B0603020204030204"/>
              </a:rPr>
              <a:t>: versión estable.</a:t>
            </a:r>
            <a:endParaRPr lang="es-PE" sz="2000" dirty="0">
              <a:latin typeface="Antique Olive" panose="020B0603020204030204"/>
            </a:endParaRPr>
          </a:p>
        </p:txBody>
      </p:sp>
      <p:sp>
        <p:nvSpPr>
          <p:cNvPr id="18" name="CuadroTexto 17">
            <a:extLst>
              <a:ext uri="{FF2B5EF4-FFF2-40B4-BE49-F238E27FC236}">
                <a16:creationId xmlns:a16="http://schemas.microsoft.com/office/drawing/2014/main" id="{7FF220FB-D9B8-4C80-92E7-0DE2287896A8}"/>
              </a:ext>
            </a:extLst>
          </p:cNvPr>
          <p:cNvSpPr txBox="1"/>
          <p:nvPr/>
        </p:nvSpPr>
        <p:spPr>
          <a:xfrm>
            <a:off x="837828" y="3410422"/>
            <a:ext cx="6449136" cy="400110"/>
          </a:xfrm>
          <a:prstGeom prst="rect">
            <a:avLst/>
          </a:prstGeom>
          <a:noFill/>
        </p:spPr>
        <p:txBody>
          <a:bodyPr wrap="square">
            <a:spAutoFit/>
          </a:bodyPr>
          <a:lstStyle/>
          <a:p>
            <a:pPr algn="just"/>
            <a:r>
              <a:rPr lang="es-MX" sz="2000" dirty="0" err="1">
                <a:latin typeface="Antique Olive" panose="020B0603020204030204"/>
              </a:rPr>
              <a:t>feature-navbar</a:t>
            </a:r>
            <a:r>
              <a:rPr lang="es-MX" sz="2000" dirty="0">
                <a:latin typeface="Antique Olive" panose="020B0603020204030204"/>
              </a:rPr>
              <a:t>: rama para la nueva barra de navegación.</a:t>
            </a:r>
            <a:endParaRPr lang="es-PE" sz="2000" dirty="0">
              <a:latin typeface="Antique Olive" panose="020B0603020204030204"/>
            </a:endParaRPr>
          </a:p>
        </p:txBody>
      </p:sp>
      <p:sp>
        <p:nvSpPr>
          <p:cNvPr id="20" name="CuadroTexto 19">
            <a:extLst>
              <a:ext uri="{FF2B5EF4-FFF2-40B4-BE49-F238E27FC236}">
                <a16:creationId xmlns:a16="http://schemas.microsoft.com/office/drawing/2014/main" id="{B8C0795A-45DC-497E-8011-C34A70BA6909}"/>
              </a:ext>
            </a:extLst>
          </p:cNvPr>
          <p:cNvSpPr txBox="1"/>
          <p:nvPr/>
        </p:nvSpPr>
        <p:spPr>
          <a:xfrm>
            <a:off x="837828" y="3802099"/>
            <a:ext cx="6449136" cy="400110"/>
          </a:xfrm>
          <a:prstGeom prst="rect">
            <a:avLst/>
          </a:prstGeom>
          <a:noFill/>
        </p:spPr>
        <p:txBody>
          <a:bodyPr wrap="square">
            <a:spAutoFit/>
          </a:bodyPr>
          <a:lstStyle/>
          <a:p>
            <a:pPr algn="just"/>
            <a:r>
              <a:rPr lang="es-MX" sz="2000" dirty="0" err="1">
                <a:latin typeface="Antique Olive" panose="020B0603020204030204"/>
              </a:rPr>
              <a:t>feature</a:t>
            </a:r>
            <a:r>
              <a:rPr lang="es-MX" sz="2000" dirty="0">
                <a:latin typeface="Antique Olive" panose="020B0603020204030204"/>
              </a:rPr>
              <a:t>-formulario: rama para la nueva funcionalidad.</a:t>
            </a:r>
            <a:endParaRPr lang="es-PE" sz="2000" dirty="0">
              <a:latin typeface="Antique Olive" panose="020B0603020204030204"/>
            </a:endParaRPr>
          </a:p>
        </p:txBody>
      </p:sp>
      <p:sp>
        <p:nvSpPr>
          <p:cNvPr id="7" name="Paralelogramo 6">
            <a:extLst>
              <a:ext uri="{FF2B5EF4-FFF2-40B4-BE49-F238E27FC236}">
                <a16:creationId xmlns:a16="http://schemas.microsoft.com/office/drawing/2014/main" id="{A8695A71-8F48-4F25-9EE1-5948DF9F2852}"/>
              </a:ext>
            </a:extLst>
          </p:cNvPr>
          <p:cNvSpPr/>
          <p:nvPr/>
        </p:nvSpPr>
        <p:spPr>
          <a:xfrm>
            <a:off x="621804" y="3072905"/>
            <a:ext cx="216024" cy="263984"/>
          </a:xfrm>
          <a:prstGeom prst="parallelogram">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Paralelogramo 20">
            <a:extLst>
              <a:ext uri="{FF2B5EF4-FFF2-40B4-BE49-F238E27FC236}">
                <a16:creationId xmlns:a16="http://schemas.microsoft.com/office/drawing/2014/main" id="{939243FF-9BA7-4888-8CF5-5DBDC6D1608D}"/>
              </a:ext>
            </a:extLst>
          </p:cNvPr>
          <p:cNvSpPr/>
          <p:nvPr/>
        </p:nvSpPr>
        <p:spPr>
          <a:xfrm>
            <a:off x="621804" y="3474650"/>
            <a:ext cx="216024" cy="263984"/>
          </a:xfrm>
          <a:prstGeom prst="parallelogram">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Paralelogramo 23">
            <a:extLst>
              <a:ext uri="{FF2B5EF4-FFF2-40B4-BE49-F238E27FC236}">
                <a16:creationId xmlns:a16="http://schemas.microsoft.com/office/drawing/2014/main" id="{94D8D6E8-A259-4076-874B-4BA85489E901}"/>
              </a:ext>
            </a:extLst>
          </p:cNvPr>
          <p:cNvSpPr/>
          <p:nvPr/>
        </p:nvSpPr>
        <p:spPr>
          <a:xfrm>
            <a:off x="626205" y="3901816"/>
            <a:ext cx="216024" cy="263984"/>
          </a:xfrm>
          <a:prstGeom prst="parallelogram">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CuadroTexto 25">
            <a:extLst>
              <a:ext uri="{FF2B5EF4-FFF2-40B4-BE49-F238E27FC236}">
                <a16:creationId xmlns:a16="http://schemas.microsoft.com/office/drawing/2014/main" id="{EA740E72-D772-441E-BA93-327361AAFAE1}"/>
              </a:ext>
            </a:extLst>
          </p:cNvPr>
          <p:cNvSpPr txBox="1"/>
          <p:nvPr/>
        </p:nvSpPr>
        <p:spPr>
          <a:xfrm>
            <a:off x="512688" y="4377767"/>
            <a:ext cx="11126339" cy="400110"/>
          </a:xfrm>
          <a:prstGeom prst="rect">
            <a:avLst/>
          </a:prstGeom>
          <a:noFill/>
        </p:spPr>
        <p:txBody>
          <a:bodyPr wrap="square">
            <a:spAutoFit/>
          </a:bodyPr>
          <a:lstStyle/>
          <a:p>
            <a:r>
              <a:rPr lang="es-MX" sz="2000" b="1" dirty="0">
                <a:solidFill>
                  <a:srgbClr val="FFC000"/>
                </a:solidFill>
                <a:latin typeface="Antique Olive" panose="020B0603020204030204"/>
              </a:rPr>
              <a:t>La rama es un laboratorio controlado donde puedes experimentar sin romper el producto principal.</a:t>
            </a:r>
            <a:endParaRPr lang="es-PE" sz="2000" b="1" dirty="0">
              <a:solidFill>
                <a:srgbClr val="FFC000"/>
              </a:solidFill>
              <a:latin typeface="Antique Olive" panose="020B0603020204030204"/>
            </a:endParaRPr>
          </a:p>
        </p:txBody>
      </p:sp>
    </p:spTree>
    <p:extLst>
      <p:ext uri="{BB962C8B-B14F-4D97-AF65-F5344CB8AC3E}">
        <p14:creationId xmlns:p14="http://schemas.microsoft.com/office/powerpoint/2010/main" val="93116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Ramas (Branch) y </a:t>
            </a:r>
            <a:r>
              <a:rPr lang="es-PE" sz="2800" b="1" dirty="0" err="1">
                <a:solidFill>
                  <a:schemeClr val="accent5"/>
                </a:solidFill>
                <a:latin typeface="Antique Olive"/>
              </a:rPr>
              <a:t>merge</a:t>
            </a:r>
            <a:endParaRPr lang="es-PE" sz="2800" b="1" dirty="0">
              <a:solidFill>
                <a:schemeClr val="accent5"/>
              </a:solidFill>
              <a:latin typeface="Antique Olive"/>
            </a:endParaRPr>
          </a:p>
        </p:txBody>
      </p:sp>
      <p:pic>
        <p:nvPicPr>
          <p:cNvPr id="5" name="Imagen 4">
            <a:extLst>
              <a:ext uri="{FF2B5EF4-FFF2-40B4-BE49-F238E27FC236}">
                <a16:creationId xmlns:a16="http://schemas.microsoft.com/office/drawing/2014/main" id="{7ECF1A5D-5AAA-4D12-BEFF-65A26C63C145}"/>
              </a:ext>
            </a:extLst>
          </p:cNvPr>
          <p:cNvPicPr>
            <a:picLocks noChangeAspect="1"/>
          </p:cNvPicPr>
          <p:nvPr/>
        </p:nvPicPr>
        <p:blipFill rotWithShape="1">
          <a:blip r:embed="rId3"/>
          <a:srcRect t="5796"/>
          <a:stretch/>
        </p:blipFill>
        <p:spPr>
          <a:xfrm>
            <a:off x="7040337" y="1988840"/>
            <a:ext cx="5087060" cy="1534581"/>
          </a:xfrm>
          <a:prstGeom prst="rect">
            <a:avLst/>
          </a:prstGeom>
        </p:spPr>
      </p:pic>
      <p:sp>
        <p:nvSpPr>
          <p:cNvPr id="15" name="CuadroTexto 14">
            <a:extLst>
              <a:ext uri="{FF2B5EF4-FFF2-40B4-BE49-F238E27FC236}">
                <a16:creationId xmlns:a16="http://schemas.microsoft.com/office/drawing/2014/main" id="{E384F0CE-3EB7-480F-838B-3F69454E399D}"/>
              </a:ext>
            </a:extLst>
          </p:cNvPr>
          <p:cNvSpPr txBox="1"/>
          <p:nvPr/>
        </p:nvSpPr>
        <p:spPr>
          <a:xfrm>
            <a:off x="512688" y="1484784"/>
            <a:ext cx="5334000" cy="400110"/>
          </a:xfrm>
          <a:prstGeom prst="rect">
            <a:avLst/>
          </a:prstGeom>
          <a:noFill/>
        </p:spPr>
        <p:txBody>
          <a:bodyPr wrap="square">
            <a:spAutoFit/>
          </a:bodyPr>
          <a:lstStyle/>
          <a:p>
            <a:pPr algn="just"/>
            <a:r>
              <a:rPr lang="es-MX" sz="2000" b="1" dirty="0">
                <a:solidFill>
                  <a:schemeClr val="accent5"/>
                </a:solidFill>
                <a:latin typeface="Antique Olive" panose="020B0603020204030204"/>
              </a:rPr>
              <a:t>Comandos principales</a:t>
            </a:r>
            <a:endParaRPr lang="es-PE" sz="2000" b="1" dirty="0">
              <a:solidFill>
                <a:schemeClr val="accent5"/>
              </a:solidFill>
              <a:latin typeface="Antique Olive" panose="020B0603020204030204"/>
            </a:endParaRPr>
          </a:p>
        </p:txBody>
      </p:sp>
      <p:sp>
        <p:nvSpPr>
          <p:cNvPr id="17" name="CuadroTexto 16">
            <a:extLst>
              <a:ext uri="{FF2B5EF4-FFF2-40B4-BE49-F238E27FC236}">
                <a16:creationId xmlns:a16="http://schemas.microsoft.com/office/drawing/2014/main" id="{876B886F-3966-4ABF-B381-55E3C47ADE96}"/>
              </a:ext>
            </a:extLst>
          </p:cNvPr>
          <p:cNvSpPr txBox="1"/>
          <p:nvPr/>
        </p:nvSpPr>
        <p:spPr>
          <a:xfrm>
            <a:off x="894148" y="1883396"/>
            <a:ext cx="5544616" cy="400110"/>
          </a:xfrm>
          <a:prstGeom prst="rect">
            <a:avLst/>
          </a:prstGeom>
          <a:noFill/>
        </p:spPr>
        <p:txBody>
          <a:bodyPr wrap="square">
            <a:spAutoFit/>
          </a:bodyPr>
          <a:lstStyle/>
          <a:p>
            <a:pPr algn="just"/>
            <a:r>
              <a:rPr lang="es-MX" sz="2000" b="1" dirty="0">
                <a:latin typeface="Antique Olive" panose="020B0603020204030204"/>
              </a:rPr>
              <a:t>Crear rama: </a:t>
            </a:r>
            <a:r>
              <a:rPr lang="es-MX" sz="2000" dirty="0" err="1">
                <a:latin typeface="Antique Olive" panose="020B0603020204030204"/>
              </a:rPr>
              <a:t>git</a:t>
            </a:r>
            <a:r>
              <a:rPr lang="es-MX" sz="2000" dirty="0">
                <a:latin typeface="Antique Olive" panose="020B0603020204030204"/>
              </a:rPr>
              <a:t> </a:t>
            </a:r>
            <a:r>
              <a:rPr lang="es-MX" sz="2000" dirty="0" err="1">
                <a:latin typeface="Antique Olive" panose="020B0603020204030204"/>
              </a:rPr>
              <a:t>branch</a:t>
            </a:r>
            <a:r>
              <a:rPr lang="es-MX" sz="2000" dirty="0">
                <a:latin typeface="Antique Olive" panose="020B0603020204030204"/>
              </a:rPr>
              <a:t> nueva-rama </a:t>
            </a:r>
            <a:endParaRPr lang="es-PE" sz="2000" dirty="0">
              <a:latin typeface="Antique Olive" panose="020B0603020204030204"/>
            </a:endParaRPr>
          </a:p>
        </p:txBody>
      </p:sp>
      <p:sp>
        <p:nvSpPr>
          <p:cNvPr id="13" name="CuadroTexto 12">
            <a:extLst>
              <a:ext uri="{FF2B5EF4-FFF2-40B4-BE49-F238E27FC236}">
                <a16:creationId xmlns:a16="http://schemas.microsoft.com/office/drawing/2014/main" id="{815E7501-A887-4B5A-BEA3-00F276E30F66}"/>
              </a:ext>
            </a:extLst>
          </p:cNvPr>
          <p:cNvSpPr txBox="1"/>
          <p:nvPr/>
        </p:nvSpPr>
        <p:spPr>
          <a:xfrm>
            <a:off x="894148" y="2242883"/>
            <a:ext cx="5544616" cy="400110"/>
          </a:xfrm>
          <a:prstGeom prst="rect">
            <a:avLst/>
          </a:prstGeom>
          <a:noFill/>
        </p:spPr>
        <p:txBody>
          <a:bodyPr wrap="square">
            <a:spAutoFit/>
          </a:bodyPr>
          <a:lstStyle/>
          <a:p>
            <a:pPr algn="just"/>
            <a:r>
              <a:rPr lang="es-MX" sz="2000" b="1" dirty="0">
                <a:latin typeface="Antique Olive" panose="020B0603020204030204"/>
              </a:rPr>
              <a:t>Cambiar rama: </a:t>
            </a:r>
            <a:r>
              <a:rPr lang="es-MX" sz="2000" dirty="0" err="1">
                <a:latin typeface="Antique Olive" panose="020B0603020204030204"/>
              </a:rPr>
              <a:t>git</a:t>
            </a:r>
            <a:r>
              <a:rPr lang="es-MX" sz="2000" dirty="0">
                <a:latin typeface="Antique Olive" panose="020B0603020204030204"/>
              </a:rPr>
              <a:t> </a:t>
            </a:r>
            <a:r>
              <a:rPr lang="es-MX" sz="2000" dirty="0" err="1">
                <a:latin typeface="Antique Olive" panose="020B0603020204030204"/>
              </a:rPr>
              <a:t>checkout</a:t>
            </a:r>
            <a:r>
              <a:rPr lang="es-MX" sz="2000" dirty="0">
                <a:latin typeface="Antique Olive" panose="020B0603020204030204"/>
              </a:rPr>
              <a:t> nueva-rama </a:t>
            </a:r>
            <a:endParaRPr lang="es-PE" sz="2000" dirty="0">
              <a:latin typeface="Antique Olive" panose="020B0603020204030204"/>
            </a:endParaRPr>
          </a:p>
        </p:txBody>
      </p:sp>
      <p:sp>
        <p:nvSpPr>
          <p:cNvPr id="14" name="CuadroTexto 13">
            <a:extLst>
              <a:ext uri="{FF2B5EF4-FFF2-40B4-BE49-F238E27FC236}">
                <a16:creationId xmlns:a16="http://schemas.microsoft.com/office/drawing/2014/main" id="{F3DC5577-174E-4FF2-BE34-9FBC7C7B42FA}"/>
              </a:ext>
            </a:extLst>
          </p:cNvPr>
          <p:cNvSpPr txBox="1"/>
          <p:nvPr/>
        </p:nvSpPr>
        <p:spPr>
          <a:xfrm>
            <a:off x="894148" y="2638777"/>
            <a:ext cx="5544616" cy="1015663"/>
          </a:xfrm>
          <a:prstGeom prst="rect">
            <a:avLst/>
          </a:prstGeom>
          <a:noFill/>
        </p:spPr>
        <p:txBody>
          <a:bodyPr wrap="square">
            <a:spAutoFit/>
          </a:bodyPr>
          <a:lstStyle/>
          <a:p>
            <a:pPr algn="just"/>
            <a:r>
              <a:rPr lang="es-MX" sz="2000" b="1" dirty="0">
                <a:latin typeface="Antique Olive" panose="020B0603020204030204"/>
              </a:rPr>
              <a:t>Crear y Cambiar rama: </a:t>
            </a:r>
            <a:r>
              <a:rPr lang="es-MX" sz="2000" dirty="0" err="1">
                <a:latin typeface="Antique Olive" panose="020B0603020204030204"/>
              </a:rPr>
              <a:t>git</a:t>
            </a:r>
            <a:r>
              <a:rPr lang="es-MX" sz="2000" dirty="0">
                <a:latin typeface="Antique Olive" panose="020B0603020204030204"/>
              </a:rPr>
              <a:t> </a:t>
            </a:r>
            <a:r>
              <a:rPr lang="es-MX" sz="2000" dirty="0" err="1">
                <a:latin typeface="Antique Olive" panose="020B0603020204030204"/>
              </a:rPr>
              <a:t>checkout</a:t>
            </a:r>
            <a:r>
              <a:rPr lang="es-MX" sz="2000" dirty="0">
                <a:latin typeface="Antique Olive" panose="020B0603020204030204"/>
              </a:rPr>
              <a:t> –b nueva-rama o </a:t>
            </a:r>
            <a:r>
              <a:rPr lang="es-MX" sz="2000" dirty="0" err="1">
                <a:latin typeface="Antique Olive" panose="020B0603020204030204"/>
              </a:rPr>
              <a:t>git</a:t>
            </a:r>
            <a:r>
              <a:rPr lang="es-MX" sz="2000" dirty="0">
                <a:latin typeface="Antique Olive" panose="020B0603020204030204"/>
              </a:rPr>
              <a:t> switch </a:t>
            </a:r>
            <a:r>
              <a:rPr lang="es-MX" sz="2000" dirty="0" err="1">
                <a:latin typeface="Antique Olive" panose="020B0603020204030204"/>
              </a:rPr>
              <a:t>feature-header</a:t>
            </a:r>
            <a:r>
              <a:rPr lang="es-MX" sz="2000" dirty="0">
                <a:latin typeface="Antique Olive" panose="020B0603020204030204"/>
              </a:rPr>
              <a:t> o </a:t>
            </a:r>
            <a:r>
              <a:rPr lang="es-MX" sz="2000" dirty="0" err="1">
                <a:latin typeface="Antique Olive" panose="020B0603020204030204"/>
              </a:rPr>
              <a:t>git</a:t>
            </a:r>
            <a:r>
              <a:rPr lang="es-MX" sz="2000" dirty="0">
                <a:latin typeface="Antique Olive" panose="020B0603020204030204"/>
              </a:rPr>
              <a:t> switch –c </a:t>
            </a:r>
            <a:r>
              <a:rPr lang="es-MX" sz="2000" dirty="0" err="1">
                <a:latin typeface="Antique Olive" panose="020B0603020204030204"/>
              </a:rPr>
              <a:t>feature-header</a:t>
            </a:r>
            <a:r>
              <a:rPr lang="es-MX" sz="2000" dirty="0">
                <a:latin typeface="Antique Olive" panose="020B0603020204030204"/>
              </a:rPr>
              <a:t>. </a:t>
            </a:r>
            <a:endParaRPr lang="es-PE" sz="2000" dirty="0">
              <a:latin typeface="Antique Olive" panose="020B0603020204030204"/>
            </a:endParaRPr>
          </a:p>
        </p:txBody>
      </p:sp>
      <p:sp>
        <p:nvSpPr>
          <p:cNvPr id="16" name="CuadroTexto 15">
            <a:extLst>
              <a:ext uri="{FF2B5EF4-FFF2-40B4-BE49-F238E27FC236}">
                <a16:creationId xmlns:a16="http://schemas.microsoft.com/office/drawing/2014/main" id="{5666CA2D-8B96-4ACB-8AD3-F2B032926655}"/>
              </a:ext>
            </a:extLst>
          </p:cNvPr>
          <p:cNvSpPr txBox="1"/>
          <p:nvPr/>
        </p:nvSpPr>
        <p:spPr>
          <a:xfrm>
            <a:off x="891825" y="3654440"/>
            <a:ext cx="5544616" cy="400110"/>
          </a:xfrm>
          <a:prstGeom prst="rect">
            <a:avLst/>
          </a:prstGeom>
          <a:noFill/>
        </p:spPr>
        <p:txBody>
          <a:bodyPr wrap="square">
            <a:spAutoFit/>
          </a:bodyPr>
          <a:lstStyle/>
          <a:p>
            <a:pPr algn="just"/>
            <a:r>
              <a:rPr lang="es-MX" sz="2000" b="1" dirty="0">
                <a:latin typeface="Antique Olive" panose="020B0603020204030204"/>
              </a:rPr>
              <a:t>Ver ramas: </a:t>
            </a:r>
            <a:r>
              <a:rPr lang="es-MX" sz="2000" dirty="0" err="1">
                <a:latin typeface="Antique Olive" panose="020B0603020204030204"/>
              </a:rPr>
              <a:t>git</a:t>
            </a:r>
            <a:r>
              <a:rPr lang="es-MX" sz="2000" dirty="0">
                <a:latin typeface="Antique Olive" panose="020B0603020204030204"/>
              </a:rPr>
              <a:t> </a:t>
            </a:r>
            <a:r>
              <a:rPr lang="es-MX" sz="2000" dirty="0" err="1">
                <a:latin typeface="Antique Olive" panose="020B0603020204030204"/>
              </a:rPr>
              <a:t>branch</a:t>
            </a:r>
            <a:endParaRPr lang="es-PE" sz="2000" dirty="0">
              <a:latin typeface="Antique Olive" panose="020B0603020204030204"/>
            </a:endParaRPr>
          </a:p>
        </p:txBody>
      </p:sp>
      <p:sp>
        <p:nvSpPr>
          <p:cNvPr id="19" name="CuadroTexto 18">
            <a:extLst>
              <a:ext uri="{FF2B5EF4-FFF2-40B4-BE49-F238E27FC236}">
                <a16:creationId xmlns:a16="http://schemas.microsoft.com/office/drawing/2014/main" id="{0AB8EC8F-456C-405B-950C-852B3961EBE5}"/>
              </a:ext>
            </a:extLst>
          </p:cNvPr>
          <p:cNvSpPr txBox="1"/>
          <p:nvPr/>
        </p:nvSpPr>
        <p:spPr>
          <a:xfrm>
            <a:off x="512688" y="703348"/>
            <a:ext cx="7165900" cy="707886"/>
          </a:xfrm>
          <a:prstGeom prst="rect">
            <a:avLst/>
          </a:prstGeom>
          <a:noFill/>
        </p:spPr>
        <p:txBody>
          <a:bodyPr wrap="square">
            <a:spAutoFit/>
          </a:bodyPr>
          <a:lstStyle/>
          <a:p>
            <a:pPr algn="just"/>
            <a:r>
              <a:rPr lang="es-MX" sz="2000" dirty="0">
                <a:latin typeface="Antique Olive" panose="020B0603020204030204"/>
              </a:rPr>
              <a:t>La rama es un laboratorio controlado donde puedes experimentar sin romper el producto principal.</a:t>
            </a:r>
            <a:endParaRPr lang="es-PE" sz="2000" dirty="0">
              <a:latin typeface="Antique Olive" panose="020B0603020204030204"/>
            </a:endParaRPr>
          </a:p>
        </p:txBody>
      </p:sp>
      <p:sp>
        <p:nvSpPr>
          <p:cNvPr id="3" name="Placa 2">
            <a:extLst>
              <a:ext uri="{FF2B5EF4-FFF2-40B4-BE49-F238E27FC236}">
                <a16:creationId xmlns:a16="http://schemas.microsoft.com/office/drawing/2014/main" id="{3FCE2645-9B9E-49D6-BC01-F111EF66EE44}"/>
              </a:ext>
            </a:extLst>
          </p:cNvPr>
          <p:cNvSpPr/>
          <p:nvPr/>
        </p:nvSpPr>
        <p:spPr>
          <a:xfrm>
            <a:off x="576852" y="1957178"/>
            <a:ext cx="253132" cy="254043"/>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Placa 21">
            <a:extLst>
              <a:ext uri="{FF2B5EF4-FFF2-40B4-BE49-F238E27FC236}">
                <a16:creationId xmlns:a16="http://schemas.microsoft.com/office/drawing/2014/main" id="{6578475D-9136-4CDC-A11E-AD7B765D777F}"/>
              </a:ext>
            </a:extLst>
          </p:cNvPr>
          <p:cNvSpPr/>
          <p:nvPr/>
        </p:nvSpPr>
        <p:spPr>
          <a:xfrm>
            <a:off x="576852" y="2315916"/>
            <a:ext cx="253132" cy="254043"/>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Placa 22">
            <a:extLst>
              <a:ext uri="{FF2B5EF4-FFF2-40B4-BE49-F238E27FC236}">
                <a16:creationId xmlns:a16="http://schemas.microsoft.com/office/drawing/2014/main" id="{E7EE8365-0D86-4AE3-A199-B2A6637D34FA}"/>
              </a:ext>
            </a:extLst>
          </p:cNvPr>
          <p:cNvSpPr/>
          <p:nvPr/>
        </p:nvSpPr>
        <p:spPr>
          <a:xfrm>
            <a:off x="576852" y="2711810"/>
            <a:ext cx="253132" cy="254043"/>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5" name="Placa 24">
            <a:extLst>
              <a:ext uri="{FF2B5EF4-FFF2-40B4-BE49-F238E27FC236}">
                <a16:creationId xmlns:a16="http://schemas.microsoft.com/office/drawing/2014/main" id="{2903BED6-CF29-4584-92F8-9A2C6408C0C1}"/>
              </a:ext>
            </a:extLst>
          </p:cNvPr>
          <p:cNvSpPr/>
          <p:nvPr/>
        </p:nvSpPr>
        <p:spPr>
          <a:xfrm>
            <a:off x="576852" y="3727473"/>
            <a:ext cx="253132" cy="254043"/>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CuadroTexto 17">
            <a:extLst>
              <a:ext uri="{FF2B5EF4-FFF2-40B4-BE49-F238E27FC236}">
                <a16:creationId xmlns:a16="http://schemas.microsoft.com/office/drawing/2014/main" id="{8651C6EF-0B1C-4300-A355-45BBBFFDEC17}"/>
              </a:ext>
            </a:extLst>
          </p:cNvPr>
          <p:cNvSpPr txBox="1"/>
          <p:nvPr/>
        </p:nvSpPr>
        <p:spPr>
          <a:xfrm>
            <a:off x="512688" y="4180745"/>
            <a:ext cx="5544616" cy="400110"/>
          </a:xfrm>
          <a:prstGeom prst="rect">
            <a:avLst/>
          </a:prstGeom>
          <a:noFill/>
        </p:spPr>
        <p:txBody>
          <a:bodyPr wrap="square">
            <a:spAutoFit/>
          </a:bodyPr>
          <a:lstStyle/>
          <a:p>
            <a:pPr algn="just"/>
            <a:r>
              <a:rPr lang="es-MX" sz="2000" b="1" dirty="0" err="1">
                <a:solidFill>
                  <a:schemeClr val="accent5"/>
                </a:solidFill>
                <a:latin typeface="Antique Olive" panose="020B0603020204030204"/>
              </a:rPr>
              <a:t>git</a:t>
            </a:r>
            <a:r>
              <a:rPr lang="es-MX" sz="2000" b="1" dirty="0">
                <a:solidFill>
                  <a:schemeClr val="accent5"/>
                </a:solidFill>
                <a:latin typeface="Antique Olive" panose="020B0603020204030204"/>
              </a:rPr>
              <a:t> </a:t>
            </a:r>
            <a:r>
              <a:rPr lang="es-MX" sz="2000" b="1" dirty="0" err="1">
                <a:solidFill>
                  <a:schemeClr val="accent5"/>
                </a:solidFill>
                <a:latin typeface="Antique Olive" panose="020B0603020204030204"/>
              </a:rPr>
              <a:t>merge</a:t>
            </a:r>
            <a:endParaRPr lang="es-PE" sz="2000" dirty="0">
              <a:solidFill>
                <a:schemeClr val="accent5"/>
              </a:solidFill>
              <a:latin typeface="Antique Olive" panose="020B0603020204030204"/>
            </a:endParaRPr>
          </a:p>
        </p:txBody>
      </p:sp>
      <p:sp>
        <p:nvSpPr>
          <p:cNvPr id="20" name="CuadroTexto 19">
            <a:extLst>
              <a:ext uri="{FF2B5EF4-FFF2-40B4-BE49-F238E27FC236}">
                <a16:creationId xmlns:a16="http://schemas.microsoft.com/office/drawing/2014/main" id="{75693891-A1CE-42ED-885A-984268991010}"/>
              </a:ext>
            </a:extLst>
          </p:cNvPr>
          <p:cNvSpPr txBox="1"/>
          <p:nvPr/>
        </p:nvSpPr>
        <p:spPr>
          <a:xfrm>
            <a:off x="891825" y="4540232"/>
            <a:ext cx="5544616" cy="400110"/>
          </a:xfrm>
          <a:prstGeom prst="rect">
            <a:avLst/>
          </a:prstGeom>
          <a:noFill/>
        </p:spPr>
        <p:txBody>
          <a:bodyPr wrap="square">
            <a:spAutoFit/>
          </a:bodyPr>
          <a:lstStyle/>
          <a:p>
            <a:pPr algn="just"/>
            <a:r>
              <a:rPr lang="es-MX" sz="2000" b="1" dirty="0">
                <a:latin typeface="Antique Olive" panose="020B0603020204030204"/>
              </a:rPr>
              <a:t>Fusiona los cambios de una rama en otra.</a:t>
            </a:r>
            <a:endParaRPr lang="es-PE" sz="2000" dirty="0">
              <a:latin typeface="Antique Olive" panose="020B0603020204030204"/>
            </a:endParaRPr>
          </a:p>
        </p:txBody>
      </p:sp>
    </p:spTree>
    <p:extLst>
      <p:ext uri="{BB962C8B-B14F-4D97-AF65-F5344CB8AC3E}">
        <p14:creationId xmlns:p14="http://schemas.microsoft.com/office/powerpoint/2010/main" val="2978229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Ramas (Branch) y </a:t>
            </a:r>
            <a:r>
              <a:rPr lang="es-PE" sz="2800" b="1" dirty="0" err="1">
                <a:solidFill>
                  <a:schemeClr val="accent5"/>
                </a:solidFill>
                <a:latin typeface="Antique Olive"/>
              </a:rPr>
              <a:t>merge</a:t>
            </a:r>
            <a:endParaRPr lang="es-PE" sz="2800" b="1" dirty="0">
              <a:solidFill>
                <a:schemeClr val="accent5"/>
              </a:solidFill>
              <a:latin typeface="Antique Olive"/>
            </a:endParaRPr>
          </a:p>
        </p:txBody>
      </p:sp>
      <p:pic>
        <p:nvPicPr>
          <p:cNvPr id="5" name="Imagen 4">
            <a:extLst>
              <a:ext uri="{FF2B5EF4-FFF2-40B4-BE49-F238E27FC236}">
                <a16:creationId xmlns:a16="http://schemas.microsoft.com/office/drawing/2014/main" id="{7ECF1A5D-5AAA-4D12-BEFF-65A26C63C145}"/>
              </a:ext>
            </a:extLst>
          </p:cNvPr>
          <p:cNvPicPr>
            <a:picLocks noChangeAspect="1"/>
          </p:cNvPicPr>
          <p:nvPr/>
        </p:nvPicPr>
        <p:blipFill rotWithShape="1">
          <a:blip r:embed="rId3"/>
          <a:srcRect t="5796"/>
          <a:stretch/>
        </p:blipFill>
        <p:spPr>
          <a:xfrm>
            <a:off x="7040337" y="1988840"/>
            <a:ext cx="5087060" cy="1534581"/>
          </a:xfrm>
          <a:prstGeom prst="rect">
            <a:avLst/>
          </a:prstGeom>
        </p:spPr>
      </p:pic>
      <p:sp>
        <p:nvSpPr>
          <p:cNvPr id="18" name="CuadroTexto 17">
            <a:extLst>
              <a:ext uri="{FF2B5EF4-FFF2-40B4-BE49-F238E27FC236}">
                <a16:creationId xmlns:a16="http://schemas.microsoft.com/office/drawing/2014/main" id="{8651C6EF-0B1C-4300-A355-45BBBFFDEC17}"/>
              </a:ext>
            </a:extLst>
          </p:cNvPr>
          <p:cNvSpPr txBox="1"/>
          <p:nvPr/>
        </p:nvSpPr>
        <p:spPr>
          <a:xfrm>
            <a:off x="602707" y="909273"/>
            <a:ext cx="5544616" cy="400110"/>
          </a:xfrm>
          <a:prstGeom prst="rect">
            <a:avLst/>
          </a:prstGeom>
          <a:noFill/>
        </p:spPr>
        <p:txBody>
          <a:bodyPr wrap="square">
            <a:spAutoFit/>
          </a:bodyPr>
          <a:lstStyle/>
          <a:p>
            <a:pPr algn="just"/>
            <a:r>
              <a:rPr lang="es-MX" sz="2000" b="1" dirty="0">
                <a:solidFill>
                  <a:schemeClr val="accent5"/>
                </a:solidFill>
                <a:latin typeface="Antique Olive" panose="020B0603020204030204"/>
              </a:rPr>
              <a:t>Estrategias de </a:t>
            </a:r>
            <a:r>
              <a:rPr lang="es-MX" sz="2000" b="1" dirty="0" err="1">
                <a:solidFill>
                  <a:schemeClr val="accent5"/>
                </a:solidFill>
                <a:latin typeface="Antique Olive" panose="020B0603020204030204"/>
              </a:rPr>
              <a:t>merge</a:t>
            </a:r>
            <a:endParaRPr lang="es-PE" sz="2000" dirty="0">
              <a:solidFill>
                <a:schemeClr val="accent5"/>
              </a:solidFill>
              <a:latin typeface="Antique Olive" panose="020B0603020204030204"/>
            </a:endParaRPr>
          </a:p>
        </p:txBody>
      </p:sp>
      <p:sp>
        <p:nvSpPr>
          <p:cNvPr id="20" name="CuadroTexto 19">
            <a:extLst>
              <a:ext uri="{FF2B5EF4-FFF2-40B4-BE49-F238E27FC236}">
                <a16:creationId xmlns:a16="http://schemas.microsoft.com/office/drawing/2014/main" id="{75693891-A1CE-42ED-885A-984268991010}"/>
              </a:ext>
            </a:extLst>
          </p:cNvPr>
          <p:cNvSpPr txBox="1"/>
          <p:nvPr/>
        </p:nvSpPr>
        <p:spPr>
          <a:xfrm>
            <a:off x="1053852" y="1412776"/>
            <a:ext cx="5544616" cy="707886"/>
          </a:xfrm>
          <a:prstGeom prst="rect">
            <a:avLst/>
          </a:prstGeom>
          <a:noFill/>
        </p:spPr>
        <p:txBody>
          <a:bodyPr wrap="square">
            <a:spAutoFit/>
          </a:bodyPr>
          <a:lstStyle/>
          <a:p>
            <a:pPr algn="just"/>
            <a:r>
              <a:rPr lang="es-MX" sz="2000" b="1" dirty="0" err="1">
                <a:latin typeface="Antique Olive" panose="020B0603020204030204"/>
              </a:rPr>
              <a:t>Fast</a:t>
            </a:r>
            <a:r>
              <a:rPr lang="es-MX" sz="2000" b="1" dirty="0">
                <a:latin typeface="Antique Olive" panose="020B0603020204030204"/>
              </a:rPr>
              <a:t>-forward: </a:t>
            </a:r>
            <a:r>
              <a:rPr lang="es-MX" sz="2000" dirty="0">
                <a:latin typeface="Antique Olive" panose="020B0603020204030204"/>
              </a:rPr>
              <a:t>si la rama actual no avanzó desde que se creó la otra. Git simplemente mueve el puntero.</a:t>
            </a:r>
            <a:endParaRPr lang="es-PE" sz="2000" dirty="0">
              <a:latin typeface="Antique Olive" panose="020B0603020204030204"/>
            </a:endParaRPr>
          </a:p>
        </p:txBody>
      </p:sp>
      <p:sp>
        <p:nvSpPr>
          <p:cNvPr id="2" name="Rectángulo: esquinas redondeadas 1">
            <a:extLst>
              <a:ext uri="{FF2B5EF4-FFF2-40B4-BE49-F238E27FC236}">
                <a16:creationId xmlns:a16="http://schemas.microsoft.com/office/drawing/2014/main" id="{18DA5A40-7BEE-43D0-ACFF-6811DAAC04ED}"/>
              </a:ext>
            </a:extLst>
          </p:cNvPr>
          <p:cNvSpPr/>
          <p:nvPr/>
        </p:nvSpPr>
        <p:spPr>
          <a:xfrm>
            <a:off x="770965" y="1615213"/>
            <a:ext cx="282887" cy="303012"/>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Rectángulo: esquinas redondeadas 20">
            <a:extLst>
              <a:ext uri="{FF2B5EF4-FFF2-40B4-BE49-F238E27FC236}">
                <a16:creationId xmlns:a16="http://schemas.microsoft.com/office/drawing/2014/main" id="{74E538C6-0431-4C39-813F-8F36BABF4A22}"/>
              </a:ext>
            </a:extLst>
          </p:cNvPr>
          <p:cNvSpPr/>
          <p:nvPr/>
        </p:nvSpPr>
        <p:spPr>
          <a:xfrm>
            <a:off x="766193" y="2526056"/>
            <a:ext cx="282887" cy="303012"/>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CuadroTexto 23">
            <a:extLst>
              <a:ext uri="{FF2B5EF4-FFF2-40B4-BE49-F238E27FC236}">
                <a16:creationId xmlns:a16="http://schemas.microsoft.com/office/drawing/2014/main" id="{CBDEECB2-71CA-4B1F-B66C-281E060CB793}"/>
              </a:ext>
            </a:extLst>
          </p:cNvPr>
          <p:cNvSpPr txBox="1"/>
          <p:nvPr/>
        </p:nvSpPr>
        <p:spPr>
          <a:xfrm>
            <a:off x="1049080" y="2172113"/>
            <a:ext cx="5544616" cy="1015663"/>
          </a:xfrm>
          <a:prstGeom prst="rect">
            <a:avLst/>
          </a:prstGeom>
          <a:noFill/>
        </p:spPr>
        <p:txBody>
          <a:bodyPr wrap="square">
            <a:spAutoFit/>
          </a:bodyPr>
          <a:lstStyle/>
          <a:p>
            <a:pPr algn="just"/>
            <a:r>
              <a:rPr lang="es-MX" sz="2000" b="1" dirty="0">
                <a:latin typeface="Antique Olive" panose="020B0603020204030204"/>
              </a:rPr>
              <a:t>Recursive (3-way): </a:t>
            </a:r>
            <a:r>
              <a:rPr lang="es-MX" sz="2000" dirty="0">
                <a:latin typeface="Antique Olive" panose="020B0603020204030204"/>
              </a:rPr>
              <a:t>si ambas ramas avanzaron. Git crea un </a:t>
            </a:r>
            <a:r>
              <a:rPr lang="es-MX" sz="2000" dirty="0" err="1">
                <a:latin typeface="Antique Olive" panose="020B0603020204030204"/>
              </a:rPr>
              <a:t>commit</a:t>
            </a:r>
            <a:r>
              <a:rPr lang="es-MX" sz="2000" dirty="0">
                <a:latin typeface="Antique Olive" panose="020B0603020204030204"/>
              </a:rPr>
              <a:t> de </a:t>
            </a:r>
            <a:r>
              <a:rPr lang="es-MX" sz="2000" dirty="0" err="1">
                <a:latin typeface="Antique Olive" panose="020B0603020204030204"/>
              </a:rPr>
              <a:t>merge</a:t>
            </a:r>
            <a:r>
              <a:rPr lang="es-MX" sz="2000" dirty="0">
                <a:latin typeface="Antique Olive" panose="020B0603020204030204"/>
              </a:rPr>
              <a:t> que combina las historias.</a:t>
            </a:r>
            <a:endParaRPr lang="es-PE" sz="2000" dirty="0">
              <a:latin typeface="Antique Olive" panose="020B0603020204030204"/>
            </a:endParaRPr>
          </a:p>
        </p:txBody>
      </p:sp>
      <p:sp>
        <p:nvSpPr>
          <p:cNvPr id="26" name="CuadroTexto 25">
            <a:extLst>
              <a:ext uri="{FF2B5EF4-FFF2-40B4-BE49-F238E27FC236}">
                <a16:creationId xmlns:a16="http://schemas.microsoft.com/office/drawing/2014/main" id="{6835BA13-77F2-4FF4-8B02-67B46A47666F}"/>
              </a:ext>
            </a:extLst>
          </p:cNvPr>
          <p:cNvSpPr txBox="1"/>
          <p:nvPr/>
        </p:nvSpPr>
        <p:spPr>
          <a:xfrm>
            <a:off x="602707" y="3137280"/>
            <a:ext cx="5544616" cy="400110"/>
          </a:xfrm>
          <a:prstGeom prst="rect">
            <a:avLst/>
          </a:prstGeom>
          <a:noFill/>
        </p:spPr>
        <p:txBody>
          <a:bodyPr wrap="square">
            <a:spAutoFit/>
          </a:bodyPr>
          <a:lstStyle/>
          <a:p>
            <a:pPr algn="just"/>
            <a:r>
              <a:rPr lang="es-MX" sz="2000" b="1" dirty="0">
                <a:solidFill>
                  <a:schemeClr val="accent5"/>
                </a:solidFill>
                <a:latin typeface="Antique Olive" panose="020B0603020204030204"/>
              </a:rPr>
              <a:t>Ejemplo:</a:t>
            </a:r>
            <a:endParaRPr lang="es-PE" sz="2000" dirty="0">
              <a:solidFill>
                <a:schemeClr val="accent5"/>
              </a:solidFill>
              <a:latin typeface="Antique Olive" panose="020B0603020204030204"/>
            </a:endParaRPr>
          </a:p>
        </p:txBody>
      </p:sp>
      <p:sp>
        <p:nvSpPr>
          <p:cNvPr id="27" name="CuadroTexto 26">
            <a:extLst>
              <a:ext uri="{FF2B5EF4-FFF2-40B4-BE49-F238E27FC236}">
                <a16:creationId xmlns:a16="http://schemas.microsoft.com/office/drawing/2014/main" id="{D006E35A-4DD1-4AD8-B1E8-0291647EC3F2}"/>
              </a:ext>
            </a:extLst>
          </p:cNvPr>
          <p:cNvSpPr txBox="1"/>
          <p:nvPr/>
        </p:nvSpPr>
        <p:spPr>
          <a:xfrm>
            <a:off x="766193" y="3548449"/>
            <a:ext cx="10229908" cy="400110"/>
          </a:xfrm>
          <a:prstGeom prst="rect">
            <a:avLst/>
          </a:prstGeom>
          <a:noFill/>
        </p:spPr>
        <p:txBody>
          <a:bodyPr wrap="square">
            <a:spAutoFit/>
          </a:bodyPr>
          <a:lstStyle/>
          <a:p>
            <a:pPr algn="just"/>
            <a:r>
              <a:rPr lang="es-MX" sz="2000" dirty="0">
                <a:latin typeface="Antique Olive" panose="020B0603020204030204"/>
              </a:rPr>
              <a:t>Se cuenta con la rama principal “master”, creamos una rama: </a:t>
            </a:r>
            <a:r>
              <a:rPr lang="es-MX" sz="2000" dirty="0" err="1">
                <a:latin typeface="Antique Olive" panose="020B0603020204030204"/>
              </a:rPr>
              <a:t>feature-header</a:t>
            </a:r>
            <a:r>
              <a:rPr lang="es-MX" sz="2000" dirty="0">
                <a:latin typeface="Antique Olive" panose="020B0603020204030204"/>
              </a:rPr>
              <a:t>.</a:t>
            </a:r>
            <a:endParaRPr lang="es-PE" sz="2000" dirty="0">
              <a:latin typeface="Antique Olive" panose="020B0603020204030204"/>
            </a:endParaRPr>
          </a:p>
        </p:txBody>
      </p:sp>
      <p:sp>
        <p:nvSpPr>
          <p:cNvPr id="28" name="CuadroTexto 27">
            <a:extLst>
              <a:ext uri="{FF2B5EF4-FFF2-40B4-BE49-F238E27FC236}">
                <a16:creationId xmlns:a16="http://schemas.microsoft.com/office/drawing/2014/main" id="{7BBC71B6-13CF-47A5-A3DC-68DDBFC3487E}"/>
              </a:ext>
            </a:extLst>
          </p:cNvPr>
          <p:cNvSpPr txBox="1"/>
          <p:nvPr/>
        </p:nvSpPr>
        <p:spPr>
          <a:xfrm>
            <a:off x="772917" y="3922541"/>
            <a:ext cx="10229908" cy="400110"/>
          </a:xfrm>
          <a:prstGeom prst="rect">
            <a:avLst/>
          </a:prstGeom>
          <a:noFill/>
        </p:spPr>
        <p:txBody>
          <a:bodyPr wrap="square">
            <a:spAutoFit/>
          </a:bodyPr>
          <a:lstStyle/>
          <a:p>
            <a:pPr algn="just"/>
            <a:r>
              <a:rPr lang="es-MX" sz="2000" dirty="0">
                <a:latin typeface="Antique Olive" panose="020B0603020204030204"/>
              </a:rPr>
              <a:t>En la rama </a:t>
            </a:r>
            <a:r>
              <a:rPr lang="es-MX" sz="2000" dirty="0" err="1">
                <a:latin typeface="Antique Olive" panose="020B0603020204030204"/>
              </a:rPr>
              <a:t>feature-header</a:t>
            </a:r>
            <a:r>
              <a:rPr lang="es-MX" sz="2000" dirty="0">
                <a:latin typeface="Antique Olive" panose="020B0603020204030204"/>
              </a:rPr>
              <a:t>, actualizamos con una pequeña.</a:t>
            </a:r>
            <a:endParaRPr lang="es-PE" sz="2000" dirty="0">
              <a:latin typeface="Antique Olive" panose="020B0603020204030204"/>
            </a:endParaRPr>
          </a:p>
        </p:txBody>
      </p:sp>
      <p:sp>
        <p:nvSpPr>
          <p:cNvPr id="29" name="CuadroTexto 28">
            <a:extLst>
              <a:ext uri="{FF2B5EF4-FFF2-40B4-BE49-F238E27FC236}">
                <a16:creationId xmlns:a16="http://schemas.microsoft.com/office/drawing/2014/main" id="{E28A135E-BC5E-4AD2-B6F3-A8E6B0046535}"/>
              </a:ext>
            </a:extLst>
          </p:cNvPr>
          <p:cNvSpPr txBox="1"/>
          <p:nvPr/>
        </p:nvSpPr>
        <p:spPr>
          <a:xfrm>
            <a:off x="753907" y="4322651"/>
            <a:ext cx="10229908" cy="707886"/>
          </a:xfrm>
          <a:prstGeom prst="rect">
            <a:avLst/>
          </a:prstGeom>
          <a:noFill/>
        </p:spPr>
        <p:txBody>
          <a:bodyPr wrap="square">
            <a:spAutoFit/>
          </a:bodyPr>
          <a:lstStyle/>
          <a:p>
            <a:pPr algn="just"/>
            <a:r>
              <a:rPr lang="es-MX" sz="2000" dirty="0">
                <a:latin typeface="Antique Olive" panose="020B0603020204030204"/>
              </a:rPr>
              <a:t>Luego regresamos a la rama principal “master” para unir la rama creada; </a:t>
            </a:r>
            <a:r>
              <a:rPr lang="es-MX" sz="2000" dirty="0" err="1">
                <a:latin typeface="Antique Olive" panose="020B0603020204030204"/>
              </a:rPr>
              <a:t>git</a:t>
            </a:r>
            <a:r>
              <a:rPr lang="es-MX" sz="2000" dirty="0">
                <a:latin typeface="Antique Olive" panose="020B0603020204030204"/>
              </a:rPr>
              <a:t> </a:t>
            </a:r>
            <a:r>
              <a:rPr lang="es-MX" sz="2000" dirty="0" err="1">
                <a:latin typeface="Antique Olive" panose="020B0603020204030204"/>
              </a:rPr>
              <a:t>merge</a:t>
            </a:r>
            <a:r>
              <a:rPr lang="es-MX" sz="2000" dirty="0">
                <a:latin typeface="Antique Olive" panose="020B0603020204030204"/>
              </a:rPr>
              <a:t> </a:t>
            </a:r>
            <a:r>
              <a:rPr lang="es-MX" sz="2000" dirty="0" err="1">
                <a:latin typeface="Antique Olive" panose="020B0603020204030204"/>
              </a:rPr>
              <a:t>feature-header</a:t>
            </a:r>
            <a:r>
              <a:rPr lang="es-MX" sz="2000" dirty="0">
                <a:latin typeface="Antique Olive" panose="020B0603020204030204"/>
              </a:rPr>
              <a:t>.</a:t>
            </a:r>
            <a:endParaRPr lang="es-PE" sz="2000" dirty="0">
              <a:latin typeface="Antique Olive" panose="020B0603020204030204"/>
            </a:endParaRPr>
          </a:p>
        </p:txBody>
      </p:sp>
      <p:sp>
        <p:nvSpPr>
          <p:cNvPr id="30" name="CuadroTexto 29">
            <a:extLst>
              <a:ext uri="{FF2B5EF4-FFF2-40B4-BE49-F238E27FC236}">
                <a16:creationId xmlns:a16="http://schemas.microsoft.com/office/drawing/2014/main" id="{5A851FF6-4019-440F-8A7F-810CF82E89F8}"/>
              </a:ext>
            </a:extLst>
          </p:cNvPr>
          <p:cNvSpPr txBox="1"/>
          <p:nvPr/>
        </p:nvSpPr>
        <p:spPr>
          <a:xfrm>
            <a:off x="753907" y="5114837"/>
            <a:ext cx="10229908" cy="707886"/>
          </a:xfrm>
          <a:prstGeom prst="rect">
            <a:avLst/>
          </a:prstGeom>
          <a:noFill/>
        </p:spPr>
        <p:txBody>
          <a:bodyPr wrap="square">
            <a:spAutoFit/>
          </a:bodyPr>
          <a:lstStyle/>
          <a:p>
            <a:pPr algn="just"/>
            <a:r>
              <a:rPr lang="es-MX" sz="2000" dirty="0">
                <a:latin typeface="Antique Olive" panose="020B0603020204030204"/>
              </a:rPr>
              <a:t>Para visualizar la unión de la rama con la principal, aplicamos el siguiente comando: </a:t>
            </a:r>
            <a:r>
              <a:rPr lang="es-MX" sz="2000" dirty="0" err="1">
                <a:latin typeface="Antique Olive" panose="020B0603020204030204"/>
              </a:rPr>
              <a:t>git</a:t>
            </a:r>
            <a:r>
              <a:rPr lang="es-MX" sz="2000" dirty="0">
                <a:latin typeface="Antique Olive" panose="020B0603020204030204"/>
              </a:rPr>
              <a:t> log –online --</a:t>
            </a:r>
            <a:r>
              <a:rPr lang="es-MX" sz="2000" dirty="0" err="1">
                <a:latin typeface="Antique Olive" panose="020B0603020204030204"/>
              </a:rPr>
              <a:t>graph</a:t>
            </a:r>
            <a:r>
              <a:rPr lang="es-MX" sz="2000" dirty="0">
                <a:latin typeface="Antique Olive" panose="020B0603020204030204"/>
              </a:rPr>
              <a:t> --</a:t>
            </a:r>
            <a:r>
              <a:rPr lang="es-MX" sz="2000" dirty="0" err="1">
                <a:latin typeface="Antique Olive" panose="020B0603020204030204"/>
              </a:rPr>
              <a:t>all</a:t>
            </a:r>
            <a:endParaRPr lang="es-PE" sz="2000" dirty="0">
              <a:latin typeface="Antique Olive" panose="020B0603020204030204"/>
            </a:endParaRPr>
          </a:p>
        </p:txBody>
      </p:sp>
    </p:spTree>
    <p:extLst>
      <p:ext uri="{BB962C8B-B14F-4D97-AF65-F5344CB8AC3E}">
        <p14:creationId xmlns:p14="http://schemas.microsoft.com/office/powerpoint/2010/main" val="68440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388A3AD0-AC57-405F-A22F-D561B85CB29E}"/>
              </a:ext>
            </a:extLst>
          </p:cNvPr>
          <p:cNvSpPr txBox="1"/>
          <p:nvPr/>
        </p:nvSpPr>
        <p:spPr>
          <a:xfrm>
            <a:off x="477788" y="332656"/>
            <a:ext cx="7488832" cy="523220"/>
          </a:xfrm>
          <a:prstGeom prst="rect">
            <a:avLst/>
          </a:prstGeom>
          <a:noFill/>
        </p:spPr>
        <p:txBody>
          <a:bodyPr wrap="square" rtlCol="0">
            <a:spAutoFit/>
          </a:bodyPr>
          <a:lstStyle/>
          <a:p>
            <a:r>
              <a:rPr lang="es-PE" sz="2800" b="1" dirty="0">
                <a:solidFill>
                  <a:schemeClr val="accent5"/>
                </a:solidFill>
                <a:latin typeface="Antique Olive"/>
              </a:rPr>
              <a:t>Caso práctico</a:t>
            </a:r>
          </a:p>
        </p:txBody>
      </p:sp>
      <p:sp>
        <p:nvSpPr>
          <p:cNvPr id="18" name="CuadroTexto 17">
            <a:extLst>
              <a:ext uri="{FF2B5EF4-FFF2-40B4-BE49-F238E27FC236}">
                <a16:creationId xmlns:a16="http://schemas.microsoft.com/office/drawing/2014/main" id="{8651C6EF-0B1C-4300-A355-45BBBFFDEC17}"/>
              </a:ext>
            </a:extLst>
          </p:cNvPr>
          <p:cNvSpPr txBox="1"/>
          <p:nvPr/>
        </p:nvSpPr>
        <p:spPr>
          <a:xfrm>
            <a:off x="602706" y="909273"/>
            <a:ext cx="10748289" cy="707886"/>
          </a:xfrm>
          <a:prstGeom prst="rect">
            <a:avLst/>
          </a:prstGeom>
          <a:noFill/>
        </p:spPr>
        <p:txBody>
          <a:bodyPr wrap="square">
            <a:spAutoFit/>
          </a:bodyPr>
          <a:lstStyle/>
          <a:p>
            <a:pPr algn="just"/>
            <a:r>
              <a:rPr lang="es-MX" sz="2000" b="1" dirty="0">
                <a:latin typeface="Antique Olive" panose="020B0603020204030204"/>
              </a:rPr>
              <a:t>Dentro de la carpeta semana1, crear otra carpeta denominada </a:t>
            </a:r>
            <a:r>
              <a:rPr lang="es-MX" sz="2000" b="1" dirty="0" err="1">
                <a:latin typeface="Antique Olive" panose="020B0603020204030204"/>
              </a:rPr>
              <a:t>landing_page</a:t>
            </a:r>
            <a:r>
              <a:rPr lang="es-MX" sz="2000" b="1" dirty="0">
                <a:latin typeface="Antique Olive" panose="020B0603020204030204"/>
              </a:rPr>
              <a:t>, dentro de ella, crear un archivo </a:t>
            </a:r>
            <a:r>
              <a:rPr lang="es-MX" sz="2000" b="1" dirty="0" err="1">
                <a:latin typeface="Antique Olive" panose="020B0603020204030204"/>
              </a:rPr>
              <a:t>html</a:t>
            </a:r>
            <a:r>
              <a:rPr lang="es-MX" sz="2000" b="1" dirty="0">
                <a:latin typeface="Antique Olive" panose="020B0603020204030204"/>
              </a:rPr>
              <a:t>: index.html </a:t>
            </a:r>
            <a:endParaRPr lang="es-PE" sz="2000" dirty="0">
              <a:latin typeface="Antique Olive" panose="020B0603020204030204"/>
            </a:endParaRPr>
          </a:p>
        </p:txBody>
      </p:sp>
      <p:sp>
        <p:nvSpPr>
          <p:cNvPr id="14" name="CuadroTexto 13">
            <a:extLst>
              <a:ext uri="{FF2B5EF4-FFF2-40B4-BE49-F238E27FC236}">
                <a16:creationId xmlns:a16="http://schemas.microsoft.com/office/drawing/2014/main" id="{548EB1BE-FD12-49B1-9C82-2243F3D61DF2}"/>
              </a:ext>
            </a:extLst>
          </p:cNvPr>
          <p:cNvSpPr txBox="1"/>
          <p:nvPr/>
        </p:nvSpPr>
        <p:spPr>
          <a:xfrm>
            <a:off x="591790" y="1670556"/>
            <a:ext cx="10748289" cy="707886"/>
          </a:xfrm>
          <a:prstGeom prst="rect">
            <a:avLst/>
          </a:prstGeom>
          <a:noFill/>
        </p:spPr>
        <p:txBody>
          <a:bodyPr wrap="square">
            <a:spAutoFit/>
          </a:bodyPr>
          <a:lstStyle/>
          <a:p>
            <a:pPr algn="just"/>
            <a:r>
              <a:rPr lang="es-MX" sz="2000" b="1" dirty="0">
                <a:latin typeface="Antique Olive" panose="020B0603020204030204"/>
              </a:rPr>
              <a:t>Realizar el inicio del </a:t>
            </a:r>
            <a:r>
              <a:rPr lang="es-MX" sz="2000" b="1" dirty="0" err="1">
                <a:latin typeface="Antique Olive" panose="020B0603020204030204"/>
              </a:rPr>
              <a:t>commit</a:t>
            </a:r>
            <a:r>
              <a:rPr lang="es-MX" sz="2000" b="1" dirty="0">
                <a:latin typeface="Antique Olive" panose="020B0603020204030204"/>
              </a:rPr>
              <a:t> con la estructura principal, cuyo </a:t>
            </a:r>
            <a:r>
              <a:rPr lang="es-MX" sz="2000" b="1" dirty="0" err="1">
                <a:latin typeface="Antique Olive" panose="020B0603020204030204"/>
              </a:rPr>
              <a:t>index</a:t>
            </a:r>
            <a:r>
              <a:rPr lang="es-MX" sz="2000" b="1" dirty="0">
                <a:latin typeface="Antique Olive" panose="020B0603020204030204"/>
              </a:rPr>
              <a:t> tenga las siguientes características: </a:t>
            </a:r>
            <a:r>
              <a:rPr lang="es-MX" sz="2000" b="1" dirty="0" err="1">
                <a:latin typeface="Antique Olive" panose="020B0603020204030204"/>
              </a:rPr>
              <a:t>header</a:t>
            </a:r>
            <a:r>
              <a:rPr lang="es-MX" sz="2000" b="1" dirty="0">
                <a:latin typeface="Antique Olive" panose="020B0603020204030204"/>
              </a:rPr>
              <a:t>, </a:t>
            </a:r>
            <a:r>
              <a:rPr lang="es-MX" sz="2000" b="1" dirty="0" err="1">
                <a:latin typeface="Antique Olive" panose="020B0603020204030204"/>
              </a:rPr>
              <a:t>section</a:t>
            </a:r>
            <a:r>
              <a:rPr lang="es-MX" sz="2000" b="1" dirty="0">
                <a:latin typeface="Antique Olive" panose="020B0603020204030204"/>
              </a:rPr>
              <a:t>, dentro de </a:t>
            </a:r>
            <a:r>
              <a:rPr lang="es-MX" sz="2000" b="1" dirty="0" err="1">
                <a:latin typeface="Antique Olive" panose="020B0603020204030204"/>
              </a:rPr>
              <a:t>section</a:t>
            </a:r>
            <a:r>
              <a:rPr lang="es-MX" sz="2000" b="1" dirty="0">
                <a:latin typeface="Antique Olive" panose="020B0603020204030204"/>
              </a:rPr>
              <a:t> estará </a:t>
            </a:r>
            <a:r>
              <a:rPr lang="es-MX" sz="2000" b="1" dirty="0" err="1">
                <a:latin typeface="Antique Olive" panose="020B0603020204030204"/>
              </a:rPr>
              <a:t>article</a:t>
            </a:r>
            <a:r>
              <a:rPr lang="es-MX" sz="2000" b="1" dirty="0">
                <a:latin typeface="Antique Olive" panose="020B0603020204030204"/>
              </a:rPr>
              <a:t>, </a:t>
            </a:r>
            <a:r>
              <a:rPr lang="es-MX" sz="2000" b="1" dirty="0" err="1">
                <a:latin typeface="Antique Olive" panose="020B0603020204030204"/>
              </a:rPr>
              <a:t>footer</a:t>
            </a:r>
            <a:r>
              <a:rPr lang="es-MX" sz="2000" b="1" dirty="0">
                <a:latin typeface="Antique Olive" panose="020B0603020204030204"/>
              </a:rPr>
              <a:t>.</a:t>
            </a:r>
            <a:endParaRPr lang="es-PE" sz="2000" dirty="0">
              <a:latin typeface="Antique Olive" panose="020B0603020204030204"/>
            </a:endParaRPr>
          </a:p>
        </p:txBody>
      </p:sp>
      <p:sp>
        <p:nvSpPr>
          <p:cNvPr id="15" name="CuadroTexto 14">
            <a:extLst>
              <a:ext uri="{FF2B5EF4-FFF2-40B4-BE49-F238E27FC236}">
                <a16:creationId xmlns:a16="http://schemas.microsoft.com/office/drawing/2014/main" id="{406B61D3-7E79-4B65-AF78-74EC1FA78739}"/>
              </a:ext>
            </a:extLst>
          </p:cNvPr>
          <p:cNvSpPr txBox="1"/>
          <p:nvPr/>
        </p:nvSpPr>
        <p:spPr>
          <a:xfrm>
            <a:off x="602706" y="2499554"/>
            <a:ext cx="10748289" cy="707886"/>
          </a:xfrm>
          <a:prstGeom prst="rect">
            <a:avLst/>
          </a:prstGeom>
          <a:noFill/>
        </p:spPr>
        <p:txBody>
          <a:bodyPr wrap="square">
            <a:spAutoFit/>
          </a:bodyPr>
          <a:lstStyle/>
          <a:p>
            <a:pPr algn="just"/>
            <a:r>
              <a:rPr lang="es-MX" sz="2000" b="1" dirty="0">
                <a:latin typeface="Antique Olive" panose="020B0603020204030204"/>
              </a:rPr>
              <a:t>Crear la rama de </a:t>
            </a:r>
            <a:r>
              <a:rPr lang="es-MX" sz="2000" b="1" dirty="0" err="1">
                <a:latin typeface="Antique Olive" panose="020B0603020204030204"/>
              </a:rPr>
              <a:t>section</a:t>
            </a:r>
            <a:r>
              <a:rPr lang="es-MX" sz="2000" b="1" dirty="0">
                <a:latin typeface="Antique Olive" panose="020B0603020204030204"/>
              </a:rPr>
              <a:t>, con el nombre “</a:t>
            </a:r>
            <a:r>
              <a:rPr lang="es-MX" sz="2000" b="1" dirty="0" err="1">
                <a:latin typeface="Antique Olive" panose="020B0603020204030204"/>
              </a:rPr>
              <a:t>feature-section</a:t>
            </a:r>
            <a:r>
              <a:rPr lang="es-MX" sz="2000" b="1" dirty="0">
                <a:latin typeface="Antique Olive" panose="020B0603020204030204"/>
              </a:rPr>
              <a:t>”, en ella actualizará las características de esta sección y realice el o los </a:t>
            </a:r>
            <a:r>
              <a:rPr lang="es-MX" sz="2000" b="1" dirty="0" err="1">
                <a:latin typeface="Antique Olive" panose="020B0603020204030204"/>
              </a:rPr>
              <a:t>commits</a:t>
            </a:r>
            <a:r>
              <a:rPr lang="es-MX" sz="2000" b="1" dirty="0">
                <a:latin typeface="Antique Olive" panose="020B0603020204030204"/>
              </a:rPr>
              <a:t> respectivos.</a:t>
            </a:r>
            <a:endParaRPr lang="es-PE" sz="2000" dirty="0">
              <a:latin typeface="Antique Olive" panose="020B0603020204030204"/>
            </a:endParaRPr>
          </a:p>
        </p:txBody>
      </p:sp>
      <p:sp>
        <p:nvSpPr>
          <p:cNvPr id="16" name="CuadroTexto 15">
            <a:extLst>
              <a:ext uri="{FF2B5EF4-FFF2-40B4-BE49-F238E27FC236}">
                <a16:creationId xmlns:a16="http://schemas.microsoft.com/office/drawing/2014/main" id="{7FA61460-569A-4AE0-B55A-1B424FFC9A0E}"/>
              </a:ext>
            </a:extLst>
          </p:cNvPr>
          <p:cNvSpPr txBox="1"/>
          <p:nvPr/>
        </p:nvSpPr>
        <p:spPr>
          <a:xfrm>
            <a:off x="602706" y="3366666"/>
            <a:ext cx="10748289" cy="707886"/>
          </a:xfrm>
          <a:prstGeom prst="rect">
            <a:avLst/>
          </a:prstGeom>
          <a:noFill/>
        </p:spPr>
        <p:txBody>
          <a:bodyPr wrap="square">
            <a:spAutoFit/>
          </a:bodyPr>
          <a:lstStyle/>
          <a:p>
            <a:pPr algn="just"/>
            <a:r>
              <a:rPr lang="es-MX" sz="2000" b="1" dirty="0">
                <a:latin typeface="Antique Olive" panose="020B0603020204030204"/>
              </a:rPr>
              <a:t>Una la rama secundaria con la rama principal y al final mostrarlo mediante el comando realizado </a:t>
            </a:r>
            <a:r>
              <a:rPr lang="es-MX" sz="2000" b="1">
                <a:latin typeface="Antique Olive" panose="020B0603020204030204"/>
              </a:rPr>
              <a:t>en clase.</a:t>
            </a:r>
            <a:endParaRPr lang="es-PE" sz="2000" dirty="0">
              <a:latin typeface="Antique Olive" panose="020B0603020204030204"/>
            </a:endParaRPr>
          </a:p>
        </p:txBody>
      </p:sp>
    </p:spTree>
    <p:extLst>
      <p:ext uri="{BB962C8B-B14F-4D97-AF65-F5344CB8AC3E}">
        <p14:creationId xmlns:p14="http://schemas.microsoft.com/office/powerpoint/2010/main" val="2254708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posición de texto 7"/>
          <p:cNvSpPr>
            <a:spLocks noGrp="1"/>
          </p:cNvSpPr>
          <p:nvPr>
            <p:ph type="body" idx="1"/>
          </p:nvPr>
        </p:nvSpPr>
        <p:spPr>
          <a:xfrm>
            <a:off x="2998068" y="2924944"/>
            <a:ext cx="5082740" cy="579512"/>
          </a:xfrm>
        </p:spPr>
        <p:txBody>
          <a:bodyPr rtlCol="0">
            <a:normAutofit/>
          </a:bodyPr>
          <a:lstStyle/>
          <a:p>
            <a:pPr algn="ctr" rtl="0"/>
            <a:r>
              <a:rPr lang="es-ES" sz="2800" dirty="0">
                <a:solidFill>
                  <a:schemeClr val="accent5"/>
                </a:solidFill>
                <a:latin typeface="Antique Olive" panose="020B0603020204030204" pitchFamily="34" charset="0"/>
              </a:rPr>
              <a:t>Gracias</a:t>
            </a:r>
          </a:p>
        </p:txBody>
      </p:sp>
    </p:spTree>
    <p:extLst>
      <p:ext uri="{BB962C8B-B14F-4D97-AF65-F5344CB8AC3E}">
        <p14:creationId xmlns:p14="http://schemas.microsoft.com/office/powerpoint/2010/main" val="201295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Tema d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terms/"/>
    <ds:schemaRef ds:uri="http://www.w3.org/XML/1998/namespace"/>
    <ds:schemaRef ds:uri="4873beb7-5857-4685-be1f-d57550cc96cc"/>
    <ds:schemaRef ds:uri="http://schemas.microsoft.com/office/2006/metadata/properties"/>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10326</TotalTime>
  <Words>1523</Words>
  <Application>Microsoft Office PowerPoint</Application>
  <PresentationFormat>Personalizado</PresentationFormat>
  <Paragraphs>157</Paragraphs>
  <Slides>26</Slides>
  <Notes>26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Antique Olive</vt:lpstr>
      <vt:lpstr>Arial</vt:lpstr>
      <vt:lpstr>Calibri</vt:lpstr>
      <vt:lpstr>Calibri Light</vt:lpstr>
      <vt:lpstr>Tema de Office</vt:lpstr>
      <vt:lpstr>DESARROLLO WEB 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del título</dc:title>
  <dc:creator>Lucy</dc:creator>
  <cp:lastModifiedBy>Denys Alberto Jaramillo Peralta</cp:lastModifiedBy>
  <cp:revision>665</cp:revision>
  <dcterms:created xsi:type="dcterms:W3CDTF">2018-04-11T02:53:21Z</dcterms:created>
  <dcterms:modified xsi:type="dcterms:W3CDTF">2026-04-27T21:15:03Z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